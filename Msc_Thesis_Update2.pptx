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4"/>
  </p:sldMasterIdLst>
  <p:notesMasterIdLst>
    <p:notesMasterId r:id="rId33"/>
  </p:notesMasterIdLst>
  <p:handoutMasterIdLst>
    <p:handoutMasterId r:id="rId34"/>
  </p:handoutMasterIdLst>
  <p:sldIdLst>
    <p:sldId id="500" r:id="rId15"/>
    <p:sldId id="499" r:id="rId16"/>
    <p:sldId id="502" r:id="rId17"/>
    <p:sldId id="503" r:id="rId18"/>
    <p:sldId id="511" r:id="rId19"/>
    <p:sldId id="504" r:id="rId20"/>
    <p:sldId id="506" r:id="rId21"/>
    <p:sldId id="510" r:id="rId22"/>
    <p:sldId id="505" r:id="rId23"/>
    <p:sldId id="512" r:id="rId24"/>
    <p:sldId id="508" r:id="rId25"/>
    <p:sldId id="509" r:id="rId26"/>
    <p:sldId id="515" r:id="rId27"/>
    <p:sldId id="507" r:id="rId28"/>
    <p:sldId id="513" r:id="rId29"/>
    <p:sldId id="514" r:id="rId30"/>
    <p:sldId id="516" r:id="rId31"/>
    <p:sldId id="501" r:id="rId32"/>
  </p:sldIdLst>
  <p:sldSz cx="12190413" cy="6858000"/>
  <p:notesSz cx="6858000" cy="9144000"/>
  <p:custDataLst>
    <p:tags r:id="rId35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2" autoAdjust="0"/>
    <p:restoredTop sz="84310" autoAdjust="0"/>
  </p:normalViewPr>
  <p:slideViewPr>
    <p:cSldViewPr showGuides="1">
      <p:cViewPr varScale="1">
        <p:scale>
          <a:sx n="107" d="100"/>
          <a:sy n="107" d="100"/>
        </p:scale>
        <p:origin x="696" y="10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4.xml"/><Relationship Id="rId26" Type="http://schemas.openxmlformats.org/officeDocument/2006/relationships/slide" Target="slides/slide12.xml"/><Relationship Id="rId39" Type="http://schemas.openxmlformats.org/officeDocument/2006/relationships/theme" Target="theme/theme1.xml"/><Relationship Id="rId21" Type="http://schemas.openxmlformats.org/officeDocument/2006/relationships/slide" Target="slides/slide7.xml"/><Relationship Id="rId34" Type="http://schemas.openxmlformats.org/officeDocument/2006/relationships/handoutMaster" Target="handoutMasters/handoutMaster1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slide" Target="slides/slide3.xml"/><Relationship Id="rId25" Type="http://schemas.openxmlformats.org/officeDocument/2006/relationships/slide" Target="slides/slide11.xml"/><Relationship Id="rId33" Type="http://schemas.openxmlformats.org/officeDocument/2006/relationships/notesMaster" Target="notesMasters/notesMaster1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2.xml"/><Relationship Id="rId20" Type="http://schemas.openxmlformats.org/officeDocument/2006/relationships/slide" Target="slides/slide6.xml"/><Relationship Id="rId29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10.xml"/><Relationship Id="rId32" Type="http://schemas.openxmlformats.org/officeDocument/2006/relationships/slide" Target="slides/slide1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1.xml"/><Relationship Id="rId23" Type="http://schemas.openxmlformats.org/officeDocument/2006/relationships/slide" Target="slides/slide9.xml"/><Relationship Id="rId28" Type="http://schemas.openxmlformats.org/officeDocument/2006/relationships/slide" Target="slides/slide14.xml"/><Relationship Id="rId36" Type="http://schemas.openxmlformats.org/officeDocument/2006/relationships/commentAuthors" Target="commentAuthors.xml"/><Relationship Id="rId10" Type="http://schemas.openxmlformats.org/officeDocument/2006/relationships/customXml" Target="../customXml/item10.xml"/><Relationship Id="rId19" Type="http://schemas.openxmlformats.org/officeDocument/2006/relationships/slide" Target="slides/slide5.xml"/><Relationship Id="rId31" Type="http://schemas.openxmlformats.org/officeDocument/2006/relationships/slide" Target="slides/slide17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slideMaster" Target="slideMasters/slideMaster1.xml"/><Relationship Id="rId22" Type="http://schemas.openxmlformats.org/officeDocument/2006/relationships/slide" Target="slides/slide8.xml"/><Relationship Id="rId27" Type="http://schemas.openxmlformats.org/officeDocument/2006/relationships/slide" Target="slides/slide13.xml"/><Relationship Id="rId30" Type="http://schemas.openxmlformats.org/officeDocument/2006/relationships/slide" Target="slides/slide16.xml"/><Relationship Id="rId35" Type="http://schemas.openxmlformats.org/officeDocument/2006/relationships/tags" Target="tags/tag1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Grid fees are different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91289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83118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2022 used Pyrolysis most</a:t>
            </a:r>
          </a:p>
          <a:p>
            <a:pPr marL="171450" indent="-171450">
              <a:buFontTx/>
              <a:buChar char="-"/>
            </a:pPr>
            <a:r>
              <a:rPr lang="en-US" dirty="0"/>
              <a:t>-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635894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Shorter Foresight led to more utilization of RONDO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37946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28223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59D9FD-15D8-7961-FF15-3CC2DEAD55D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081365-8ADF-38B5-60FB-FC504490AB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C07BA-32CB-B6FD-0167-0426D7F6C1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CE46-7CDE-36FE-2F3D-4211E75A488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5A548B-56FD-2AAD-2E9D-6703F282FCC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GB" dirty="0"/>
              <a:t>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[Division / Section]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3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F905E-0728-756C-E812-6B8FBD4316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1.xml"/><Relationship Id="rId1" Type="http://schemas.openxmlformats.org/officeDocument/2006/relationships/customXml" Target="../../customXml/item1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customXml" Target="../../customXml/item7.xml"/><Relationship Id="rId1" Type="http://schemas.openxmlformats.org/officeDocument/2006/relationships/customXml" Target="../../customXml/item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/>
          <a:lstStyle/>
          <a:p>
            <a:r>
              <a:rPr lang="en-GB" dirty="0" err="1"/>
              <a:t>Msc</a:t>
            </a:r>
            <a:r>
              <a:rPr lang="en-GB" dirty="0"/>
              <a:t> Thesis Updates</a:t>
            </a:r>
            <a:endParaRPr lang="en-GB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680AE-A2C5-C08E-39DD-39DA08E5D25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6AED-A45A-8940-A9BC-EBF2495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710" y="476672"/>
            <a:ext cx="9312374" cy="513195"/>
          </a:xfrm>
        </p:spPr>
        <p:txBody>
          <a:bodyPr/>
          <a:lstStyle/>
          <a:p>
            <a:r>
              <a:rPr lang="da-DK" dirty="0"/>
              <a:t>Current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A0CF7-7189-1C4E-838C-E315EF59A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3922" y="1196752"/>
            <a:ext cx="10059876" cy="5112568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da-DK" dirty="0"/>
              <a:t>Electric Boiler, NG Boiler, RONDO, Pyrolysis } Heat Technology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a-DK" dirty="0"/>
              <a:t>Wind, Solar, Grid, Battery } Electrcity Techology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a-DK" dirty="0"/>
              <a:t>Methanolisation, Electrolysis } PtX , not used in 1st part</a:t>
            </a:r>
          </a:p>
          <a:p>
            <a:pPr>
              <a:buFont typeface="Wingdings" panose="05000000000000000000" pitchFamily="2" charset="2"/>
              <a:buChar char="§"/>
            </a:pPr>
            <a:endParaRPr lang="da-DK" dirty="0"/>
          </a:p>
          <a:p>
            <a:pPr marL="0" indent="0">
              <a:buNone/>
            </a:pPr>
            <a:r>
              <a:rPr lang="da-DK" dirty="0"/>
              <a:t>Base Scenario:</a:t>
            </a:r>
          </a:p>
          <a:p>
            <a:r>
              <a:rPr lang="en-US" dirty="0" err="1"/>
              <a:t>P_el</a:t>
            </a:r>
            <a:r>
              <a:rPr lang="en-US" dirty="0"/>
              <a:t> = 2 MW</a:t>
            </a:r>
          </a:p>
          <a:p>
            <a:r>
              <a:rPr lang="en-US" dirty="0" err="1"/>
              <a:t>P_heat</a:t>
            </a:r>
            <a:r>
              <a:rPr lang="en-US" dirty="0"/>
              <a:t> = 5 MW</a:t>
            </a:r>
          </a:p>
          <a:p>
            <a:r>
              <a:rPr lang="en-US" dirty="0"/>
              <a:t>CO2_tax = 80 EUR/MWh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4D00B8-747D-644E-B8CA-2A6890EFFD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118B8-B904-5048-95F5-E4E33FD8DC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5D7A825-B413-C197-DD00-87F4C5ABC4B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291106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D68CE-C876-8A00-40B5-5A451E636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662" y="220074"/>
            <a:ext cx="3072011" cy="513195"/>
          </a:xfrm>
        </p:spPr>
        <p:txBody>
          <a:bodyPr/>
          <a:lstStyle/>
          <a:p>
            <a:r>
              <a:rPr lang="en-US" dirty="0"/>
              <a:t>Input Data</a:t>
            </a:r>
            <a:endParaRPr lang="en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3670DB-4B0D-5563-5F87-3353D653C9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0E075-9BFE-011B-AEF9-81698BA396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4C67E93-1DC1-F6B8-9DFD-F367D0C0F8E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5A266C-A416-C479-569C-AE3FB129F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31" y="1628800"/>
            <a:ext cx="5673742" cy="28083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E7B89F-0836-BED5-B8AC-B6BD1162F3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6" y="1556792"/>
            <a:ext cx="5964706" cy="29523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0D31606-0A45-82F3-0E2F-8E047C9F0FB1}"/>
              </a:ext>
            </a:extLst>
          </p:cNvPr>
          <p:cNvSpPr txBox="1"/>
          <p:nvPr/>
        </p:nvSpPr>
        <p:spPr>
          <a:xfrm>
            <a:off x="406574" y="4869160"/>
            <a:ext cx="5387693" cy="84125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Distribution of Wind/Solar CF in each quarter of the year</a:t>
            </a: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pPr marL="285750" indent="-285750" algn="l">
              <a:spcBef>
                <a:spcPts val="432"/>
              </a:spcBef>
              <a:buFont typeface="Arial" panose="020B0604020202020204" pitchFamily="34" charset="0"/>
              <a:buChar char="•"/>
            </a:pPr>
            <a:endParaRPr lang="en-DK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81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A194C-147F-229B-DD12-AE3FED098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7200" y="433158"/>
            <a:ext cx="9312374" cy="513195"/>
          </a:xfrm>
        </p:spPr>
        <p:txBody>
          <a:bodyPr/>
          <a:lstStyle/>
          <a:p>
            <a:r>
              <a:rPr lang="en-US" dirty="0"/>
              <a:t>Input Data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A331542-4461-0170-1F06-8915EA3EE7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766614" y="1196752"/>
            <a:ext cx="4817122" cy="38213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1640CF-03FB-4E06-2E3D-8666371D08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F99434-D5DD-20A6-2C80-1C1531CCEE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3A607D1-0A60-5BDE-D7A1-F4924F4CE07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FDB8B3E-007F-0BB3-E447-5FEB62BE2B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230" y="1196752"/>
            <a:ext cx="5256584" cy="39215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D8899A-219D-B6BB-D27E-AAEED38ED063}"/>
              </a:ext>
            </a:extLst>
          </p:cNvPr>
          <p:cNvSpPr txBox="1"/>
          <p:nvPr/>
        </p:nvSpPr>
        <p:spPr>
          <a:xfrm>
            <a:off x="838622" y="5373216"/>
            <a:ext cx="12663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3477573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EFF02-F378-47E7-4AEB-C075B3B16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710" y="260648"/>
            <a:ext cx="9312374" cy="513195"/>
          </a:xfrm>
        </p:spPr>
        <p:txBody>
          <a:bodyPr/>
          <a:lstStyle/>
          <a:p>
            <a:r>
              <a:rPr lang="en-US" dirty="0"/>
              <a:t>System Revenue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3CB5750-64DB-C6C5-1CF4-BFA164599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247722" y="1101237"/>
            <a:ext cx="5972546" cy="5112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C282D7-190C-8B93-B64C-3ACC54036D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55E61-3F5A-F0B5-98B9-6ADBA6062E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64CE72-0F27-D6D6-665C-9D02B3C67D4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01ADCD9-A269-1D58-6087-4D4E89D266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578286"/>
              </p:ext>
            </p:extLst>
          </p:nvPr>
        </p:nvGraphicFramePr>
        <p:xfrm>
          <a:off x="6559310" y="593425"/>
          <a:ext cx="5519145" cy="10718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03829">
                  <a:extLst>
                    <a:ext uri="{9D8B030D-6E8A-4147-A177-3AD203B41FA5}">
                      <a16:colId xmlns:a16="http://schemas.microsoft.com/office/drawing/2014/main" val="2360230864"/>
                    </a:ext>
                  </a:extLst>
                </a:gridCol>
                <a:gridCol w="1103829">
                  <a:extLst>
                    <a:ext uri="{9D8B030D-6E8A-4147-A177-3AD203B41FA5}">
                      <a16:colId xmlns:a16="http://schemas.microsoft.com/office/drawing/2014/main" val="971690985"/>
                    </a:ext>
                  </a:extLst>
                </a:gridCol>
                <a:gridCol w="1103829">
                  <a:extLst>
                    <a:ext uri="{9D8B030D-6E8A-4147-A177-3AD203B41FA5}">
                      <a16:colId xmlns:a16="http://schemas.microsoft.com/office/drawing/2014/main" val="3224595782"/>
                    </a:ext>
                  </a:extLst>
                </a:gridCol>
                <a:gridCol w="1103829">
                  <a:extLst>
                    <a:ext uri="{9D8B030D-6E8A-4147-A177-3AD203B41FA5}">
                      <a16:colId xmlns:a16="http://schemas.microsoft.com/office/drawing/2014/main" val="1164248854"/>
                    </a:ext>
                  </a:extLst>
                </a:gridCol>
                <a:gridCol w="1103829">
                  <a:extLst>
                    <a:ext uri="{9D8B030D-6E8A-4147-A177-3AD203B41FA5}">
                      <a16:colId xmlns:a16="http://schemas.microsoft.com/office/drawing/2014/main" val="35226281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Year</a:t>
                      </a:r>
                      <a:endParaRPr lang="en-DK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2021</a:t>
                      </a:r>
                      <a:endParaRPr lang="en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2022</a:t>
                      </a:r>
                      <a:endParaRPr lang="en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2023</a:t>
                      </a:r>
                      <a:endParaRPr lang="en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2024</a:t>
                      </a:r>
                      <a:endParaRPr lang="en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572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Objective value</a:t>
                      </a:r>
                      <a:endParaRPr lang="en-DK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-6.42e6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-20.2e6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-7.24e6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-5.70e6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3399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OPEX</a:t>
                      </a:r>
                      <a:endParaRPr lang="en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-6.63e6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-20.5e6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-7.46e6</a:t>
                      </a:r>
                      <a:endParaRPr lang="en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-5.92e6</a:t>
                      </a:r>
                      <a:endParaRPr lang="en-DK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429562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C65ED1C0-F233-8691-DD65-A79AB839E8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9310" y="1801663"/>
            <a:ext cx="4240951" cy="283490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A171331-D592-F70D-9E53-9144FEA3AD36}"/>
              </a:ext>
            </a:extLst>
          </p:cNvPr>
          <p:cNvSpPr txBox="1"/>
          <p:nvPr/>
        </p:nvSpPr>
        <p:spPr>
          <a:xfrm>
            <a:off x="6430913" y="4746325"/>
            <a:ext cx="5759500" cy="7899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It looks like the huge difference in the rolling horizon come from the investment costs related to the grid</a:t>
            </a:r>
          </a:p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Operating costs go down with less foresight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4D8A1DB-21EF-2B1E-D436-B7C0E6B85D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2529" y="5584087"/>
            <a:ext cx="5534797" cy="86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38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B8C497-26AF-2960-8AEA-15F5F94EDC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GB"/>
              <a:t>Footer</a:t>
            </a:r>
          </a:p>
        </p:txBody>
      </p:sp>
      <p:sp>
        <p:nvSpPr>
          <p:cNvPr id="5" name="Slide Number Placeholder 4" hidden="1">
            <a:extLst>
              <a:ext uri="{FF2B5EF4-FFF2-40B4-BE49-F238E27FC236}">
                <a16:creationId xmlns:a16="http://schemas.microsoft.com/office/drawing/2014/main" id="{304D78FE-032E-1F74-FC1C-36335E2AA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 hidden="1">
            <a:extLst>
              <a:ext uri="{FF2B5EF4-FFF2-40B4-BE49-F238E27FC236}">
                <a16:creationId xmlns:a16="http://schemas.microsoft.com/office/drawing/2014/main" id="{346066FF-DE1C-A130-1F30-ACD4DCCB569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D53F8C-87C8-E98B-6423-4D86BF94D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451" y="1412776"/>
            <a:ext cx="5665080" cy="2866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783D6D-BCC1-977D-8FE6-E013E3CA2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90" y="330524"/>
            <a:ext cx="6048672" cy="304658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CA425E6-7350-93F0-1E7A-33DDE16050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90" y="3388863"/>
            <a:ext cx="6048672" cy="312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731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459EA-B7BE-771B-50F5-B6770F434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019" y="76821"/>
            <a:ext cx="9312374" cy="513195"/>
          </a:xfrm>
        </p:spPr>
        <p:txBody>
          <a:bodyPr/>
          <a:lstStyle/>
          <a:p>
            <a:r>
              <a:rPr lang="en-US" dirty="0"/>
              <a:t>RONDO Discharging Behavior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DF38743-9021-9B28-A52D-E4F2BE7E59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126654" y="760348"/>
            <a:ext cx="5472608" cy="561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1D4BD7-5907-691C-AB2C-9A1205E681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B45CA4-3658-D749-0C50-7F39FF286BC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82620C4-F456-AC32-1778-9DFC3F153E6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1258CB-FCF6-CF98-037C-D97213514F37}"/>
              </a:ext>
            </a:extLst>
          </p:cNvPr>
          <p:cNvSpPr txBox="1"/>
          <p:nvPr/>
        </p:nvSpPr>
        <p:spPr>
          <a:xfrm>
            <a:off x="7013173" y="791688"/>
            <a:ext cx="4925878" cy="21749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2024 saw significant usage in RONDO</a:t>
            </a:r>
          </a:p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 2021/2022 saw the least usage of RONDO</a:t>
            </a:r>
          </a:p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However, it still contributed to at least around 15 % of the annual heat demand every year.</a:t>
            </a:r>
          </a:p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In fact, ignoring the extreme scenarios of 2021/2022,</a:t>
            </a:r>
          </a:p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It was contributing 20 % plus of the annual heat demand.</a:t>
            </a:r>
          </a:p>
        </p:txBody>
      </p:sp>
    </p:spTree>
    <p:extLst>
      <p:ext uri="{BB962C8B-B14F-4D97-AF65-F5344CB8AC3E}">
        <p14:creationId xmlns:p14="http://schemas.microsoft.com/office/powerpoint/2010/main" val="2344809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8D021-0B94-2E97-40EC-C970F626C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662" y="263597"/>
            <a:ext cx="9312374" cy="513195"/>
          </a:xfrm>
        </p:spPr>
        <p:txBody>
          <a:bodyPr/>
          <a:lstStyle/>
          <a:p>
            <a:r>
              <a:rPr lang="en-US" dirty="0"/>
              <a:t>Battery SOC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CFAC2E-A83D-570E-C2D2-7DFD4BD543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998862" y="908720"/>
            <a:ext cx="6889973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91F2C7-3258-346F-E70F-45521BE197F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37275C-755C-65CD-4B0B-F8E9E89A66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350D27-335B-77DA-4419-028B804E69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4020487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3311-9255-7E20-EC63-CC24E5753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2945" y="260648"/>
            <a:ext cx="9312374" cy="513195"/>
          </a:xfrm>
        </p:spPr>
        <p:txBody>
          <a:bodyPr/>
          <a:lstStyle/>
          <a:p>
            <a:r>
              <a:rPr lang="en-US" dirty="0"/>
              <a:t>Base Scenario Heat Generation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324173-E4B0-635E-246A-67172AAD9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 bwMode="auto">
          <a:xfrm>
            <a:off x="252000" y="982081"/>
            <a:ext cx="4320480" cy="25730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81DEEC-8B92-7B07-36D4-38D75BB9BC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B377DA-E5E7-0443-FA61-FD68F505C1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9A241D6-2F01-8973-A1E7-89847CE6E60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579E61-81AA-4AD5-6A0D-96A41D55A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069" y="851221"/>
            <a:ext cx="4464496" cy="26588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8D649B3-300E-8A26-B8D7-C84A6D677B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908" y="3555147"/>
            <a:ext cx="4560558" cy="27160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B08559-8E2B-C7BC-20DB-AD24D124DA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9222" y="3472935"/>
            <a:ext cx="4698602" cy="27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767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923A70-6523-BB00-ADA3-A6F59FE697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207BBB-A690-A29D-9B9B-B4A37D57C9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103CDAE-F3A3-8BF6-C2C1-DC9D4F69179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A1F638-12C2-2403-C471-5B13B7147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581" y="784693"/>
            <a:ext cx="6268832" cy="27719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36F7BE-F84A-D7BC-000F-99ACEF379B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965" y="3577437"/>
            <a:ext cx="6169479" cy="277199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66CE4DF-4674-07CF-75E1-D6F982E94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79" y="784693"/>
            <a:ext cx="6097859" cy="27929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94FC53-9185-47D0-25DF-531EBCA55A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160" y="3556461"/>
            <a:ext cx="6169479" cy="282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5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A32B7-C345-40BF-6BC0-43077A9FE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274223"/>
            <a:ext cx="9312374" cy="513195"/>
          </a:xfrm>
        </p:spPr>
        <p:txBody>
          <a:bodyPr/>
          <a:lstStyle/>
          <a:p>
            <a:r>
              <a:rPr lang="en-US" dirty="0"/>
              <a:t>Rolling Horizon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DE5025C-B31A-7F6E-FBD9-D8B3C85134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84042" y="1052701"/>
            <a:ext cx="4403703" cy="26226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D39149-F1A3-BE54-D2A9-6962CB09DA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C593B2-3486-AAB1-5E9B-C94517DEEA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2821908-802A-1121-E6CD-6E231FBB74F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F2F4D4-A28E-3F84-E6D5-685C57A05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897" y="884503"/>
            <a:ext cx="4968552" cy="29590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6E2CA4D-E566-9366-5991-FCE6C58CD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39" y="3904100"/>
            <a:ext cx="4246606" cy="25290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10954F4-2F8D-200B-3DA0-16DC14C685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897" y="3675332"/>
            <a:ext cx="4824536" cy="287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31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DCF8DA-D68B-4005-4900-38A8BAA39D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79875-A09F-C677-B3A6-A18802E048A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4CDA232-5398-519C-D5AD-7557A83B89E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0270B5-3132-5321-1B91-A2FB3C060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00" y="767460"/>
            <a:ext cx="4432943" cy="26400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E46AFB-4821-7BF7-2C28-1270B1D8D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822" y="677782"/>
            <a:ext cx="4682991" cy="27889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2CE0B2-4FA8-7791-531B-6A5D2161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00" y="3537145"/>
            <a:ext cx="4985292" cy="29689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68C8709-8CA5-6BFB-7B60-A3A9384BA2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2822" y="3407504"/>
            <a:ext cx="5131800" cy="3056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585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EC5A9-4AAD-79E8-3E6D-FB00095C2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287160"/>
            <a:ext cx="9312374" cy="513195"/>
          </a:xfrm>
        </p:spPr>
        <p:txBody>
          <a:bodyPr/>
          <a:lstStyle/>
          <a:p>
            <a:r>
              <a:rPr lang="en-US" dirty="0"/>
              <a:t>Rolling Horizon Comparison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46E876B-CC34-229A-8CA1-953202CF01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80361" y="1141001"/>
            <a:ext cx="5525176" cy="32961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C16704-0587-E32C-1129-38ACC95E6B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D8EFE2-5309-0160-56FC-C71B74F3D7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9E1571-6F5B-46EE-598A-787FF710A4C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CEB9B-DC70-3C94-04F0-73ACF067B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27" y="965224"/>
            <a:ext cx="5819825" cy="347188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4FA75D-A082-77DB-9D20-20A0E982CD8B}"/>
              </a:ext>
            </a:extLst>
          </p:cNvPr>
          <p:cNvSpPr txBox="1"/>
          <p:nvPr/>
        </p:nvSpPr>
        <p:spPr>
          <a:xfrm>
            <a:off x="838622" y="4581128"/>
            <a:ext cx="5318764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dirty="0">
                <a:latin typeface="+mn-lt"/>
              </a:rPr>
              <a:t>- Shorter Horizon seems to lead to more usage of RONDO</a:t>
            </a:r>
            <a:endParaRPr lang="en-DK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20511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3A6BA-7EF6-80FB-7B30-703673309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0630" y="156632"/>
            <a:ext cx="9312374" cy="513195"/>
          </a:xfrm>
        </p:spPr>
        <p:txBody>
          <a:bodyPr/>
          <a:lstStyle/>
          <a:p>
            <a:r>
              <a:rPr lang="en-US" dirty="0"/>
              <a:t>Seasonal Behavior</a:t>
            </a:r>
            <a:endParaRPr lang="en-D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5648895-7A4D-4A57-FC54-3E17903491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18542" y="862487"/>
            <a:ext cx="5179342" cy="54860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040953-8A5D-6306-F070-59161B7A55B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87671C-D5A1-C2DA-534E-24B53981BE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13A712-48B6-30FE-E86A-21B0D24E48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8A7BE3-5FD2-ED80-E261-2A1575560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134" y="976824"/>
            <a:ext cx="4963452" cy="525737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E5A2A5D-E427-223C-16A7-D8AB73AC4953}"/>
              </a:ext>
            </a:extLst>
          </p:cNvPr>
          <p:cNvSpPr txBox="1"/>
          <p:nvPr/>
        </p:nvSpPr>
        <p:spPr>
          <a:xfrm>
            <a:off x="5566817" y="222418"/>
            <a:ext cx="4868320" cy="54373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RONDO discharging closely follows the Spot Price</a:t>
            </a:r>
          </a:p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Same with the Battery Charging/Discharging</a:t>
            </a:r>
            <a:endParaRPr lang="en-DK" dirty="0" err="1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8288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C4138-32B3-3938-8632-040A33D00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521" y="149028"/>
            <a:ext cx="9312374" cy="513195"/>
          </a:xfrm>
        </p:spPr>
        <p:txBody>
          <a:bodyPr/>
          <a:lstStyle/>
          <a:p>
            <a:r>
              <a:rPr lang="en-US" dirty="0"/>
              <a:t>Heat Price</a:t>
            </a:r>
            <a:endParaRPr lang="en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020A4D-636E-7BAD-4F2E-152FF90F5A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91268-3A3F-E0E9-2CAD-9592E9561B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B0B5AE9-E6D7-35AF-ECA7-127E4AC76DF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9F398C-2AA3-9FDD-90AF-80E3A76B09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00" y="662224"/>
            <a:ext cx="3462667" cy="28567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FA3B86-B3C3-FE29-F6C3-6DF219527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00" y="3518924"/>
            <a:ext cx="3574000" cy="29485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7D55791-77B9-0E86-129E-DFDDE522FA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602" y="406623"/>
            <a:ext cx="3532621" cy="29144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03A44FC-9042-8AAA-5D34-B88EF46666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4033" y="3353987"/>
            <a:ext cx="3773942" cy="31135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14136AF-1370-CF3D-555D-90F080B7D4AA}"/>
              </a:ext>
            </a:extLst>
          </p:cNvPr>
          <p:cNvSpPr txBox="1"/>
          <p:nvPr/>
        </p:nvSpPr>
        <p:spPr>
          <a:xfrm>
            <a:off x="8232106" y="478586"/>
            <a:ext cx="3773942" cy="15799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Heat Price is bounded by the electricity and boiler prices</a:t>
            </a:r>
          </a:p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2022 was the only year where NG prices were lower more often than electricity prices.</a:t>
            </a:r>
          </a:p>
          <a:p>
            <a:pPr marL="285750" indent="-285750" algn="l">
              <a:spcBef>
                <a:spcPts val="432"/>
              </a:spcBef>
              <a:buFontTx/>
              <a:buChar char="-"/>
            </a:pPr>
            <a:r>
              <a:rPr lang="en-US" dirty="0">
                <a:latin typeface="+mn-lt"/>
              </a:rPr>
              <a:t>Heat MC is following the RONDOs MC</a:t>
            </a:r>
          </a:p>
        </p:txBody>
      </p:sp>
    </p:spTree>
    <p:extLst>
      <p:ext uri="{BB962C8B-B14F-4D97-AF65-F5344CB8AC3E}">
        <p14:creationId xmlns:p14="http://schemas.microsoft.com/office/powerpoint/2010/main" val="2225906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6ADAB-B2E3-CE3E-8CA9-4B1BD0780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563" y="349496"/>
            <a:ext cx="9312374" cy="513195"/>
          </a:xfrm>
        </p:spPr>
        <p:txBody>
          <a:bodyPr/>
          <a:lstStyle/>
          <a:p>
            <a:r>
              <a:rPr lang="en-US" dirty="0"/>
              <a:t>Conclusions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D7514-A6F7-82F4-F786-EC68989A2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6654" y="1195778"/>
            <a:ext cx="9731724" cy="1670778"/>
          </a:xfrm>
        </p:spPr>
        <p:txBody>
          <a:bodyPr/>
          <a:lstStyle/>
          <a:p>
            <a:pPr>
              <a:buFontTx/>
              <a:buChar char="-"/>
            </a:pPr>
            <a:r>
              <a:rPr lang="en-US" dirty="0"/>
              <a:t>Rolling Horizon did not have much impact on daily operations</a:t>
            </a:r>
          </a:p>
          <a:p>
            <a:pPr>
              <a:buFontTx/>
              <a:buChar char="-"/>
            </a:pPr>
            <a:r>
              <a:rPr lang="en-US" dirty="0"/>
              <a:t>However, it underestimates certain links/store capacities (extendable)</a:t>
            </a:r>
          </a:p>
          <a:p>
            <a:pPr>
              <a:buFontTx/>
              <a:buChar char="-"/>
            </a:pPr>
            <a:r>
              <a:rPr lang="en-US" dirty="0"/>
              <a:t>This leads to for example lower importing capacity and biochar storage.</a:t>
            </a:r>
          </a:p>
          <a:p>
            <a:pPr>
              <a:buFontTx/>
              <a:buChar char="-"/>
            </a:pPr>
            <a:r>
              <a:rPr lang="en-US" dirty="0"/>
              <a:t>These are the only ways the system can make revenue arbitrage/carbon credits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66124-1FCA-A891-D86E-DF46F42228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0CC921-FBCC-5A36-3CD7-3EE9B45012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83D8481-0D04-ECD3-5776-027A98B867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FE4341E-8775-63DD-F97E-163A4154FA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57563" y="2852528"/>
            <a:ext cx="4972744" cy="95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3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C6F44-C336-211D-3C0D-06327106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8C7D2-C079-5AAA-1406-14E169D7C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563" y="349496"/>
            <a:ext cx="9312374" cy="513195"/>
          </a:xfrm>
        </p:spPr>
        <p:txBody>
          <a:bodyPr/>
          <a:lstStyle/>
          <a:p>
            <a:r>
              <a:rPr lang="en-US" dirty="0"/>
              <a:t>Next Steps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E934A-FF64-3182-420D-E0CC8F6F8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6654" y="1195778"/>
            <a:ext cx="9731724" cy="1670778"/>
          </a:xfrm>
        </p:spPr>
        <p:txBody>
          <a:bodyPr/>
          <a:lstStyle/>
          <a:p>
            <a:r>
              <a:rPr lang="en-US" dirty="0"/>
              <a:t>Implementing Biogas Plant</a:t>
            </a:r>
          </a:p>
          <a:p>
            <a:r>
              <a:rPr lang="en-US" dirty="0"/>
              <a:t>Debugging Annualized Demand</a:t>
            </a:r>
          </a:p>
          <a:p>
            <a:r>
              <a:rPr lang="en-US" dirty="0"/>
              <a:t>Rolling Horizon with Annualized Demand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2F87DC-F74E-41A0-54DF-8BE0A5CC26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D1A99-BCFA-52F9-CC6B-EBE2FFBA37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D16A0E1-1A11-3792-052D-E27EC2F3AFD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4247855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9048F48-06A7-A443-B285-9A9D725BC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F55777-3A03-7D47-B657-69719659F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C04DB-B860-13DD-1904-30E9B42FB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Date</a:t>
            </a:r>
            <a:endParaRPr lang="en-GB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91642980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582373565942579","enableDocumentContentUpdater":true,"version":"1.2"}]]></TemplafySlideTemplateConfiguration>
</file>

<file path=customXml/item10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256B63E5-69B6-464D-863A-E47835EE7289}">
  <ds:schemaRefs/>
</ds:datastoreItem>
</file>

<file path=customXml/itemProps2.xml><?xml version="1.0" encoding="utf-8"?>
<ds:datastoreItem xmlns:ds="http://schemas.openxmlformats.org/officeDocument/2006/customXml" ds:itemID="{1334258C-C3E7-4029-A615-C886A240FB15}">
  <ds:schemaRefs/>
</ds:datastoreItem>
</file>

<file path=customXml/itemProps3.xml><?xml version="1.0" encoding="utf-8"?>
<ds:datastoreItem xmlns:ds="http://schemas.openxmlformats.org/officeDocument/2006/customXml" ds:itemID="{2EB4C41E-0201-403E-B674-C35FC9D83F82}">
  <ds:schemaRefs/>
</ds:datastoreItem>
</file>

<file path=customXml/itemProps4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C086A146-0E09-4AA0-A3DC-33B2C18DA71A}">
  <ds:schemaRefs/>
</ds:datastoreItem>
</file>

<file path=customXml/itemProps6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7.xml><?xml version="1.0" encoding="utf-8"?>
<ds:datastoreItem xmlns:ds="http://schemas.openxmlformats.org/officeDocument/2006/customXml" ds:itemID="{45D0A120-FE3F-4A06-903C-5F2D1EDB30FB}">
  <ds:schemaRefs/>
</ds:datastoreItem>
</file>

<file path=customXml/itemProps8.xml><?xml version="1.0" encoding="utf-8"?>
<ds:datastoreItem xmlns:ds="http://schemas.openxmlformats.org/officeDocument/2006/customXml" ds:itemID="{B917EF7A-B11F-4137-A061-E3AFCEC45668}">
  <ds:schemaRefs/>
</ds:datastoreItem>
</file>

<file path=customXml/itemProps9.xml><?xml version="1.0" encoding="utf-8"?>
<ds:datastoreItem xmlns:ds="http://schemas.openxmlformats.org/officeDocument/2006/customXml" ds:itemID="{FEF6F7EB-8D11-4DB2-B6C1-35C7A5D0547A}">
  <ds:schemaRefs/>
</ds:datastoreItem>
</file>

<file path=customXml/itemProps10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1.xml><?xml version="1.0" encoding="utf-8"?>
<ds:datastoreItem xmlns:ds="http://schemas.openxmlformats.org/officeDocument/2006/customXml" ds:itemID="{747FA701-153C-414F-9076-93D6EB8F30A9}">
  <ds:schemaRefs/>
</ds:datastoreItem>
</file>

<file path=customXml/itemProps12.xml><?xml version="1.0" encoding="utf-8"?>
<ds:datastoreItem xmlns:ds="http://schemas.openxmlformats.org/officeDocument/2006/customXml" ds:itemID="{89E65983-BEBD-4684-8266-29F51A82FD68}">
  <ds:schemaRefs/>
</ds:datastoreItem>
</file>

<file path=customXml/itemProps13.xml><?xml version="1.0" encoding="utf-8"?>
<ds:datastoreItem xmlns:ds="http://schemas.openxmlformats.org/officeDocument/2006/customXml" ds:itemID="{09A4C5C1-E379-42C2-9CE4-96EAD0C517EB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DTU Wind Template</Template>
  <TotalTime>1373</TotalTime>
  <Words>401</Words>
  <Application>Microsoft Office PowerPoint</Application>
  <PresentationFormat>Custom</PresentationFormat>
  <Paragraphs>123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Verdana</vt:lpstr>
      <vt:lpstr>Wingdings</vt:lpstr>
      <vt:lpstr>Blank</vt:lpstr>
      <vt:lpstr>Msc Thesis Updates</vt:lpstr>
      <vt:lpstr>Current Model</vt:lpstr>
      <vt:lpstr>Input Data</vt:lpstr>
      <vt:lpstr>Input Data</vt:lpstr>
      <vt:lpstr>System Revenue</vt:lpstr>
      <vt:lpstr>PowerPoint Presentation</vt:lpstr>
      <vt:lpstr>RONDO Discharging Behavior</vt:lpstr>
      <vt:lpstr>Battery SOC</vt:lpstr>
      <vt:lpstr>Base Scenario Heat Generation</vt:lpstr>
      <vt:lpstr>PowerPoint Presentation</vt:lpstr>
      <vt:lpstr>Rolling Horizon</vt:lpstr>
      <vt:lpstr>PowerPoint Presentation</vt:lpstr>
      <vt:lpstr>Rolling Horizon Comparison</vt:lpstr>
      <vt:lpstr>Seasonal Behavior</vt:lpstr>
      <vt:lpstr>Heat Price</vt:lpstr>
      <vt:lpstr>Conclusions</vt:lpstr>
      <vt:lpstr>Next Steps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Pulin Dhar</dc:creator>
  <cp:keywords/>
  <dc:description/>
  <cp:lastModifiedBy>Pulin Dhar</cp:lastModifiedBy>
  <cp:revision>3</cp:revision>
  <dcterms:created xsi:type="dcterms:W3CDTF">2026-02-26T12:36:25Z</dcterms:created>
  <dcterms:modified xsi:type="dcterms:W3CDTF">2026-03-03T00:31:10Z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</Properties>
</file>