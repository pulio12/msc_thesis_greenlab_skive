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4"/>
  </p:sldMasterIdLst>
  <p:notesMasterIdLst>
    <p:notesMasterId r:id="rId46"/>
  </p:notesMasterIdLst>
  <p:handoutMasterIdLst>
    <p:handoutMasterId r:id="rId47"/>
  </p:handoutMasterIdLst>
  <p:sldIdLst>
    <p:sldId id="500" r:id="rId15"/>
    <p:sldId id="499" r:id="rId16"/>
    <p:sldId id="502" r:id="rId17"/>
    <p:sldId id="503" r:id="rId18"/>
    <p:sldId id="511" r:id="rId19"/>
    <p:sldId id="504" r:id="rId20"/>
    <p:sldId id="506" r:id="rId21"/>
    <p:sldId id="510" r:id="rId22"/>
    <p:sldId id="505" r:id="rId23"/>
    <p:sldId id="524" r:id="rId24"/>
    <p:sldId id="512" r:id="rId25"/>
    <p:sldId id="508" r:id="rId26"/>
    <p:sldId id="509" r:id="rId27"/>
    <p:sldId id="515" r:id="rId28"/>
    <p:sldId id="507" r:id="rId29"/>
    <p:sldId id="513" r:id="rId30"/>
    <p:sldId id="514" r:id="rId31"/>
    <p:sldId id="516" r:id="rId32"/>
    <p:sldId id="518" r:id="rId33"/>
    <p:sldId id="517" r:id="rId34"/>
    <p:sldId id="519" r:id="rId35"/>
    <p:sldId id="521" r:id="rId36"/>
    <p:sldId id="520" r:id="rId37"/>
    <p:sldId id="522" r:id="rId38"/>
    <p:sldId id="523" r:id="rId39"/>
    <p:sldId id="525" r:id="rId40"/>
    <p:sldId id="527" r:id="rId41"/>
    <p:sldId id="526" r:id="rId42"/>
    <p:sldId id="528" r:id="rId43"/>
    <p:sldId id="529" r:id="rId44"/>
    <p:sldId id="501" r:id="rId45"/>
  </p:sldIdLst>
  <p:sldSz cx="12190413" cy="6858000"/>
  <p:notesSz cx="6858000" cy="9144000"/>
  <p:custDataLst>
    <p:tags r:id="rId48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ttias Andersson" initials="MA" lastIdx="1" clrIdx="0">
    <p:extLst>
      <p:ext uri="{19B8F6BF-5375-455C-9EA6-DF929625EA0E}">
        <p15:presenceInfo xmlns:p15="http://schemas.microsoft.com/office/powerpoint/2012/main" userId="S-1-5-21-4207196655-1284807994-987816898-558702" providerId="AD"/>
      </p:ext>
    </p:extLst>
  </p:cmAuthor>
  <p:cmAuthor id="2" name="Microsoft Office User" initials="MOU" lastIdx="1" clrIdx="1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F3EEA"/>
    <a:srgbClr val="990000"/>
    <a:srgbClr val="000000"/>
    <a:srgbClr val="FFCC00"/>
    <a:srgbClr val="FF6600"/>
    <a:srgbClr val="FF0000"/>
    <a:srgbClr val="FF0099"/>
    <a:srgbClr val="CC3399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84310" autoAdjust="0"/>
  </p:normalViewPr>
  <p:slideViewPr>
    <p:cSldViewPr showGuides="1">
      <p:cViewPr varScale="1">
        <p:scale>
          <a:sx n="76" d="100"/>
          <a:sy n="76" d="100"/>
        </p:scale>
        <p:origin x="768" y="45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95" d="100"/>
          <a:sy n="95" d="100"/>
        </p:scale>
        <p:origin x="251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9" Type="http://schemas.openxmlformats.org/officeDocument/2006/relationships/slide" Target="slides/slide25.xml"/><Relationship Id="rId21" Type="http://schemas.openxmlformats.org/officeDocument/2006/relationships/slide" Target="slides/slide7.xml"/><Relationship Id="rId34" Type="http://schemas.openxmlformats.org/officeDocument/2006/relationships/slide" Target="slides/slide20.xml"/><Relationship Id="rId42" Type="http://schemas.openxmlformats.org/officeDocument/2006/relationships/slide" Target="slides/slide28.xml"/><Relationship Id="rId47" Type="http://schemas.openxmlformats.org/officeDocument/2006/relationships/handoutMaster" Target="handoutMasters/handoutMaster1.xml"/><Relationship Id="rId50" Type="http://schemas.openxmlformats.org/officeDocument/2006/relationships/presProps" Target="presProps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29" Type="http://schemas.openxmlformats.org/officeDocument/2006/relationships/slide" Target="slides/slide15.xml"/><Relationship Id="rId11" Type="http://schemas.openxmlformats.org/officeDocument/2006/relationships/customXml" Target="../customXml/item11.xml"/><Relationship Id="rId24" Type="http://schemas.openxmlformats.org/officeDocument/2006/relationships/slide" Target="slides/slide10.xml"/><Relationship Id="rId32" Type="http://schemas.openxmlformats.org/officeDocument/2006/relationships/slide" Target="slides/slide18.xml"/><Relationship Id="rId37" Type="http://schemas.openxmlformats.org/officeDocument/2006/relationships/slide" Target="slides/slide23.xml"/><Relationship Id="rId40" Type="http://schemas.openxmlformats.org/officeDocument/2006/relationships/slide" Target="slides/slide26.xml"/><Relationship Id="rId45" Type="http://schemas.openxmlformats.org/officeDocument/2006/relationships/slide" Target="slides/slide31.xml"/><Relationship Id="rId53" Type="http://schemas.openxmlformats.org/officeDocument/2006/relationships/tableStyles" Target="tableStyles.xml"/><Relationship Id="rId5" Type="http://schemas.openxmlformats.org/officeDocument/2006/relationships/customXml" Target="../customXml/item5.xml"/><Relationship Id="rId10" Type="http://schemas.openxmlformats.org/officeDocument/2006/relationships/customXml" Target="../customXml/item10.xml"/><Relationship Id="rId19" Type="http://schemas.openxmlformats.org/officeDocument/2006/relationships/slide" Target="slides/slide5.xml"/><Relationship Id="rId31" Type="http://schemas.openxmlformats.org/officeDocument/2006/relationships/slide" Target="slides/slide17.xml"/><Relationship Id="rId44" Type="http://schemas.openxmlformats.org/officeDocument/2006/relationships/slide" Target="slides/slide30.xml"/><Relationship Id="rId52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Master" Target="slideMasters/slideMaster1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slide" Target="slides/slide16.xml"/><Relationship Id="rId35" Type="http://schemas.openxmlformats.org/officeDocument/2006/relationships/slide" Target="slides/slide21.xml"/><Relationship Id="rId43" Type="http://schemas.openxmlformats.org/officeDocument/2006/relationships/slide" Target="slides/slide29.xml"/><Relationship Id="rId48" Type="http://schemas.openxmlformats.org/officeDocument/2006/relationships/tags" Target="tags/tag1.xml"/><Relationship Id="rId8" Type="http://schemas.openxmlformats.org/officeDocument/2006/relationships/customXml" Target="../customXml/item8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slide" Target="slides/slide19.xml"/><Relationship Id="rId38" Type="http://schemas.openxmlformats.org/officeDocument/2006/relationships/slide" Target="slides/slide2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6.xml"/><Relationship Id="rId41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openxmlformats.org/officeDocument/2006/relationships/slide" Target="slides/slide22.xml"/><Relationship Id="rId4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19587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Grid fees are different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91289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83118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2022 used Pyrolysis most</a:t>
            </a:r>
          </a:p>
          <a:p>
            <a:pPr marL="171450" indent="-171450">
              <a:buFontTx/>
              <a:buChar char="-"/>
            </a:pPr>
            <a:r>
              <a:rPr lang="en-US" dirty="0"/>
              <a:t>-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9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63589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Shorter Foresight led to more utilization of RONDO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37946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282233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70407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4507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4668-D07F-4B96-9755-1754027348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AA7BA0-0B57-144D-AF9F-8BC95D0CF6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36" r="25905"/>
          <a:stretch/>
        </p:blipFill>
        <p:spPr>
          <a:xfrm>
            <a:off x="11267516" y="252716"/>
            <a:ext cx="660959" cy="611284"/>
          </a:xfrm>
          <a:prstGeom prst="rect">
            <a:avLst/>
          </a:prstGeom>
        </p:spPr>
      </p:pic>
      <p:sp>
        <p:nvSpPr>
          <p:cNvPr id="10" name="Logo white">
            <a:extLst>
              <a:ext uri="{FF2B5EF4-FFF2-40B4-BE49-F238E27FC236}">
                <a16:creationId xmlns:a16="http://schemas.microsoft.com/office/drawing/2014/main" id="{FC411777-B07F-B446-A2D9-F12CE6C3BB88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9D9FD-15D8-7961-FF15-3CC2DEAD55D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751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081365-8ADF-38B5-60FB-FC504490ABE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C07BA-32CB-B6FD-0167-0426D7F6C11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836711"/>
            <a:ext cx="9312374" cy="56213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0B325B-A25A-D56A-EF8C-3A7C961092A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67960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849733"/>
            <a:ext cx="6048672" cy="5491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15370-C44B-16D1-4345-7DCD91BF3A49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836711"/>
            <a:ext cx="6865740" cy="56213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26095-B382-DC60-053F-48583B07F1B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55474-F7C5-8595-5CCC-39641AF009EB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0ACE46-7CDE-36FE-2F3D-4211E75A488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5A548B-56FD-2AAD-2E9D-6703F282FCC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Date</a:t>
            </a:r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2F3E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Date</a:t>
            </a:r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4787466" y="6541200"/>
            <a:ext cx="3286894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>
              <a:spcBef>
                <a:spcPts val="0"/>
              </a:spcBef>
              <a:defRPr sz="7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GB" dirty="0"/>
              <a:t>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885647"/>
            <a:ext cx="9312374" cy="513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text" descr="{&quot;templafy&quot;:{&quot;id&quot;:&quot;19920dab-3faa-4eb9-b064-a1f7031a4d5a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8564558" y="6541200"/>
            <a:ext cx="2522540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endParaRPr lang="en-GB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" name="text" descr="{&quot;templafy&quot;:{&quot;id&quot;:&quot;1d6d75e4-e54c-4658-81fb-d02b8c297025&quot;}}" title="UserProfile.Offices.Workarea_{{DocumentLanguage}}">
            <a:extLst>
              <a:ext uri="{FF2B5EF4-FFF2-40B4-BE49-F238E27FC236}">
                <a16:creationId xmlns:a16="http://schemas.microsoft.com/office/drawing/2014/main" id="{52A04EE2-4A75-1E49-9D82-29FF9A12D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27127" y="6541200"/>
            <a:ext cx="927720" cy="31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en-GB" sz="700" b="1" dirty="0">
                <a:solidFill>
                  <a:schemeClr val="bg1"/>
                </a:solidFill>
                <a:latin typeface="+mn-lt"/>
              </a:rPr>
              <a:t>DTU Wind</a:t>
            </a:r>
          </a:p>
        </p:txBody>
      </p:sp>
      <p:sp>
        <p:nvSpPr>
          <p:cNvPr id="17" name="text" descr="{&quot;templafy&quot;:{&quot;id&quot;:&quot;95942039-e519-4580-99a4-52d31a0ae7a7&quot;}}" title="Form.PresentationTitle">
            <a:extLst>
              <a:ext uri="{FF2B5EF4-FFF2-40B4-BE49-F238E27FC236}">
                <a16:creationId xmlns:a16="http://schemas.microsoft.com/office/drawing/2014/main" id="{ADFFD43E-0E9D-0F4E-9CAF-179B98B1E984}"/>
              </a:ext>
            </a:extLst>
          </p:cNvPr>
          <p:cNvSpPr txBox="1"/>
          <p:nvPr userDrawn="1"/>
        </p:nvSpPr>
        <p:spPr>
          <a:xfrm>
            <a:off x="8831510" y="6541200"/>
            <a:ext cx="2407988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GB" sz="700" dirty="0">
                <a:solidFill>
                  <a:schemeClr val="bg1"/>
                </a:solidFill>
                <a:latin typeface="+mn-lt"/>
              </a:rPr>
              <a:t>[Division / Section]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88060B-D441-3246-8E00-9B5DEC362B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9" r="25904"/>
          <a:stretch/>
        </p:blipFill>
        <p:spPr>
          <a:xfrm>
            <a:off x="11290043" y="252716"/>
            <a:ext cx="637811" cy="611284"/>
          </a:xfrm>
          <a:prstGeom prst="rect">
            <a:avLst/>
          </a:prstGeom>
        </p:spPr>
      </p:pic>
      <p:sp>
        <p:nvSpPr>
          <p:cNvPr id="14" name="Logo color">
            <a:extLst>
              <a:ext uri="{FF2B5EF4-FFF2-40B4-BE49-F238E27FC236}">
                <a16:creationId xmlns:a16="http://schemas.microsoft.com/office/drawing/2014/main" id="{B9E9A3C6-77B1-3443-8EE6-564C767EAE72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2F3E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F905E-0728-756C-E812-6B8FBD4316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4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customXml" Target="../../customXml/item8.xml"/><Relationship Id="rId1" Type="http://schemas.openxmlformats.org/officeDocument/2006/relationships/customXml" Target="../../customXml/item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E884D92-3164-AE47-AF3A-4BAFFE9539F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37"/>
          <a:stretch/>
        </p:blipFill>
        <p:spPr>
          <a:xfrm>
            <a:off x="0" y="44624"/>
            <a:ext cx="12170667" cy="635255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5995EB-10E4-4119-B468-5CD7D10A093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4C8C45C-947F-4981-8B3F-4F32E973C901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D4CB0037-BDFF-A546-AB9A-C59764141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859" y="3545117"/>
            <a:ext cx="10840028" cy="2044123"/>
          </a:xfrm>
        </p:spPr>
        <p:txBody>
          <a:bodyPr/>
          <a:lstStyle/>
          <a:p>
            <a:r>
              <a:rPr lang="en-GB" dirty="0" err="1"/>
              <a:t>Msc</a:t>
            </a:r>
            <a:r>
              <a:rPr lang="en-GB" dirty="0"/>
              <a:t> Thesis Updates</a:t>
            </a:r>
            <a:endParaRPr lang="en-GB" b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680AE-A2C5-C08E-39DD-39DA08E5D25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CFFD03-4BF0-5410-06A3-F0885D02281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36" r="25905"/>
          <a:stretch/>
        </p:blipFill>
        <p:spPr>
          <a:xfrm>
            <a:off x="11267516" y="252716"/>
            <a:ext cx="660959" cy="611284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982542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56AED-A45A-8940-A9BC-EBF249563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710" y="476672"/>
            <a:ext cx="9312374" cy="513195"/>
          </a:xfrm>
        </p:spPr>
        <p:txBody>
          <a:bodyPr/>
          <a:lstStyle/>
          <a:p>
            <a:r>
              <a:rPr lang="da-DK" dirty="0"/>
              <a:t>Current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A0CF7-7189-1C4E-838C-E315EF59A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3922" y="1196752"/>
            <a:ext cx="10059876" cy="511256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da-DK" dirty="0"/>
              <a:t>Electric Boiler, NG Boiler, RONDO, Pyrolysis } Heat Technology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a-DK" dirty="0"/>
              <a:t>Wind, Solar, Grid, Battery } Electrcity Techology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a-DK" dirty="0"/>
              <a:t>Methanolisation, Electrolysis } PtX , not used in 1st part</a:t>
            </a:r>
          </a:p>
          <a:p>
            <a:pPr>
              <a:buFont typeface="Wingdings" panose="05000000000000000000" pitchFamily="2" charset="2"/>
              <a:buChar char="§"/>
            </a:pPr>
            <a:endParaRPr lang="da-DK" dirty="0"/>
          </a:p>
          <a:p>
            <a:pPr marL="0" indent="0">
              <a:buNone/>
            </a:pPr>
            <a:r>
              <a:rPr lang="da-DK" dirty="0"/>
              <a:t>Base Scenario:</a:t>
            </a:r>
          </a:p>
          <a:p>
            <a:r>
              <a:rPr lang="en-US" dirty="0" err="1"/>
              <a:t>P_el</a:t>
            </a:r>
            <a:r>
              <a:rPr lang="en-US" dirty="0"/>
              <a:t> = 2 MW</a:t>
            </a:r>
          </a:p>
          <a:p>
            <a:r>
              <a:rPr lang="en-US" dirty="0" err="1"/>
              <a:t>P_heat</a:t>
            </a:r>
            <a:r>
              <a:rPr lang="en-US" dirty="0"/>
              <a:t> = 5 MW</a:t>
            </a:r>
          </a:p>
          <a:p>
            <a:r>
              <a:rPr lang="en-US" dirty="0"/>
              <a:t>CO2_tax = 80 EUR/MWh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D00B8-747D-644E-B8CA-2A6890EFFD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E118B8-B904-5048-95F5-E4E33FD8DC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5D7A825-B413-C197-DD00-87F4C5ABC4B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291106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D68CE-C876-8A00-40B5-5A451E636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662" y="220074"/>
            <a:ext cx="3072011" cy="513195"/>
          </a:xfrm>
        </p:spPr>
        <p:txBody>
          <a:bodyPr/>
          <a:lstStyle/>
          <a:p>
            <a:r>
              <a:rPr lang="en-US" dirty="0"/>
              <a:t>Input Data</a:t>
            </a:r>
            <a:endParaRPr lang="en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3670DB-4B0D-5563-5F87-3353D653C9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0E075-9BFE-011B-AEF9-81698BA396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4C67E93-1DC1-F6B8-9DFD-F367D0C0F8E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5A266C-A416-C479-569C-AE3FB129F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31" y="1628800"/>
            <a:ext cx="5673742" cy="28083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E7B89F-0836-BED5-B8AC-B6BD1162F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206" y="1556792"/>
            <a:ext cx="5964706" cy="29523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0D31606-0A45-82F3-0E2F-8E047C9F0FB1}"/>
              </a:ext>
            </a:extLst>
          </p:cNvPr>
          <p:cNvSpPr txBox="1"/>
          <p:nvPr/>
        </p:nvSpPr>
        <p:spPr>
          <a:xfrm>
            <a:off x="406574" y="4869160"/>
            <a:ext cx="5387693" cy="8412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Distribution of Wind/Solar CF in each quarter of the year</a:t>
            </a:r>
          </a:p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endParaRPr lang="en-DK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4481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A194C-147F-229B-DD12-AE3FED098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200" y="433158"/>
            <a:ext cx="9312374" cy="513195"/>
          </a:xfrm>
        </p:spPr>
        <p:txBody>
          <a:bodyPr/>
          <a:lstStyle/>
          <a:p>
            <a:r>
              <a:rPr lang="en-US" dirty="0"/>
              <a:t>Input Data</a:t>
            </a:r>
            <a:endParaRPr lang="en-D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A331542-4461-0170-1F06-8915EA3EE7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766614" y="1196752"/>
            <a:ext cx="4817122" cy="3821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640CF-03FB-4E06-2E3D-8666371D08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F99434-D5DD-20A6-2C80-1C1531CCEE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3A607D1-0A60-5BDE-D7A1-F4924F4CE07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DB8B3E-007F-0BB3-E447-5FEB62BE2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230" y="1196752"/>
            <a:ext cx="5256584" cy="39215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4D8899A-219D-B6BB-D27E-AAEED38ED063}"/>
              </a:ext>
            </a:extLst>
          </p:cNvPr>
          <p:cNvSpPr txBox="1"/>
          <p:nvPr/>
        </p:nvSpPr>
        <p:spPr>
          <a:xfrm>
            <a:off x="838622" y="5373216"/>
            <a:ext cx="12663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3477573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EFF02-F378-47E7-4AEB-C075B3B16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710" y="260648"/>
            <a:ext cx="9312374" cy="513195"/>
          </a:xfrm>
        </p:spPr>
        <p:txBody>
          <a:bodyPr/>
          <a:lstStyle/>
          <a:p>
            <a:r>
              <a:rPr lang="en-US" dirty="0"/>
              <a:t>System Revenue</a:t>
            </a:r>
            <a:endParaRPr lang="en-D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3CB5750-64DB-C6C5-1CF4-BFA164599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247722" y="1101237"/>
            <a:ext cx="5972546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C282D7-190C-8B93-B64C-3ACC54036D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955E61-3F5A-F0B5-98B9-6ADBA6062E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064CE72-0F27-D6D6-665C-9D02B3C67D4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01ADCD9-A269-1D58-6087-4D4E89D266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578286"/>
              </p:ext>
            </p:extLst>
          </p:nvPr>
        </p:nvGraphicFramePr>
        <p:xfrm>
          <a:off x="6559310" y="593425"/>
          <a:ext cx="5519145" cy="1071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03829">
                  <a:extLst>
                    <a:ext uri="{9D8B030D-6E8A-4147-A177-3AD203B41FA5}">
                      <a16:colId xmlns:a16="http://schemas.microsoft.com/office/drawing/2014/main" val="2360230864"/>
                    </a:ext>
                  </a:extLst>
                </a:gridCol>
                <a:gridCol w="1103829">
                  <a:extLst>
                    <a:ext uri="{9D8B030D-6E8A-4147-A177-3AD203B41FA5}">
                      <a16:colId xmlns:a16="http://schemas.microsoft.com/office/drawing/2014/main" val="971690985"/>
                    </a:ext>
                  </a:extLst>
                </a:gridCol>
                <a:gridCol w="1103829">
                  <a:extLst>
                    <a:ext uri="{9D8B030D-6E8A-4147-A177-3AD203B41FA5}">
                      <a16:colId xmlns:a16="http://schemas.microsoft.com/office/drawing/2014/main" val="3224595782"/>
                    </a:ext>
                  </a:extLst>
                </a:gridCol>
                <a:gridCol w="1103829">
                  <a:extLst>
                    <a:ext uri="{9D8B030D-6E8A-4147-A177-3AD203B41FA5}">
                      <a16:colId xmlns:a16="http://schemas.microsoft.com/office/drawing/2014/main" val="1164248854"/>
                    </a:ext>
                  </a:extLst>
                </a:gridCol>
                <a:gridCol w="1103829">
                  <a:extLst>
                    <a:ext uri="{9D8B030D-6E8A-4147-A177-3AD203B41FA5}">
                      <a16:colId xmlns:a16="http://schemas.microsoft.com/office/drawing/2014/main" val="35226281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Year</a:t>
                      </a:r>
                      <a:endParaRPr lang="en-DK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2021</a:t>
                      </a:r>
                      <a:endParaRPr lang="en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2022</a:t>
                      </a:r>
                      <a:endParaRPr lang="en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2023</a:t>
                      </a:r>
                      <a:endParaRPr lang="en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2024</a:t>
                      </a:r>
                      <a:endParaRPr lang="en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72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Objective value</a:t>
                      </a:r>
                      <a:endParaRPr lang="en-DK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-6.42e6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-20.2e6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-7.24e6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-5.70e6</a:t>
                      </a:r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399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OPEX</a:t>
                      </a:r>
                      <a:endParaRPr lang="en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-6.63e6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-20.5e6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-7.46e6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-5.92e6</a:t>
                      </a:r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429562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C65ED1C0-F233-8691-DD65-A79AB839E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310" y="1801663"/>
            <a:ext cx="4240951" cy="28349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171331-D592-F70D-9E53-9144FEA3AD36}"/>
              </a:ext>
            </a:extLst>
          </p:cNvPr>
          <p:cNvSpPr txBox="1"/>
          <p:nvPr/>
        </p:nvSpPr>
        <p:spPr>
          <a:xfrm>
            <a:off x="6430913" y="4746325"/>
            <a:ext cx="5759500" cy="789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spcBef>
                <a:spcPts val="432"/>
              </a:spcBef>
              <a:buFontTx/>
              <a:buChar char="-"/>
            </a:pPr>
            <a:r>
              <a:rPr lang="en-US" dirty="0">
                <a:latin typeface="+mn-lt"/>
              </a:rPr>
              <a:t>It looks like the huge difference in the rolling horizon come from the investment costs related to the grid</a:t>
            </a:r>
          </a:p>
          <a:p>
            <a:pPr marL="285750" indent="-285750" algn="l">
              <a:spcBef>
                <a:spcPts val="432"/>
              </a:spcBef>
              <a:buFontTx/>
              <a:buChar char="-"/>
            </a:pPr>
            <a:r>
              <a:rPr lang="en-US" dirty="0">
                <a:latin typeface="+mn-lt"/>
              </a:rPr>
              <a:t>Operating costs go down with less foresight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D8A1DB-21EF-2B1E-D436-B7C0E6B85D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529" y="5584087"/>
            <a:ext cx="5534797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8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B8C497-26AF-2960-8AEA-15F5F94EDC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GB"/>
              <a:t>Footer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304D78FE-032E-1F74-FC1C-36335E2AA1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346066FF-DE1C-A130-1F30-ACD4DCCB569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D53F8C-87C8-E98B-6423-4D86BF94D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451" y="1412776"/>
            <a:ext cx="5665080" cy="28663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783D6D-BCC1-977D-8FE6-E013E3CA2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90" y="330524"/>
            <a:ext cx="6048672" cy="30465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CA425E6-7350-93F0-1E7A-33DDE1605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90" y="3388863"/>
            <a:ext cx="6048672" cy="312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731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459EA-B7BE-771B-50F5-B6770F434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019" y="76821"/>
            <a:ext cx="9312374" cy="513195"/>
          </a:xfrm>
        </p:spPr>
        <p:txBody>
          <a:bodyPr/>
          <a:lstStyle/>
          <a:p>
            <a:r>
              <a:rPr lang="en-US" dirty="0"/>
              <a:t>RONDO Discharging Behavior</a:t>
            </a:r>
            <a:endParaRPr lang="en-D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DF38743-9021-9B28-A52D-E4F2BE7E59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26654" y="760348"/>
            <a:ext cx="5472608" cy="561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1D4BD7-5907-691C-AB2C-9A1205E681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45CA4-3658-D749-0C50-7F39FF286B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82620C4-F456-AC32-1778-9DFC3F153E6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258CB-FCF6-CF98-037C-D97213514F37}"/>
              </a:ext>
            </a:extLst>
          </p:cNvPr>
          <p:cNvSpPr txBox="1"/>
          <p:nvPr/>
        </p:nvSpPr>
        <p:spPr>
          <a:xfrm>
            <a:off x="7013173" y="791688"/>
            <a:ext cx="4925878" cy="21749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spcBef>
                <a:spcPts val="432"/>
              </a:spcBef>
              <a:buFontTx/>
              <a:buChar char="-"/>
            </a:pPr>
            <a:r>
              <a:rPr lang="en-US" dirty="0">
                <a:latin typeface="+mn-lt"/>
              </a:rPr>
              <a:t>2024 saw significant usage in RONDO</a:t>
            </a:r>
          </a:p>
          <a:p>
            <a:pPr marL="285750" indent="-285750" algn="l">
              <a:spcBef>
                <a:spcPts val="432"/>
              </a:spcBef>
              <a:buFontTx/>
              <a:buChar char="-"/>
            </a:pPr>
            <a:r>
              <a:rPr lang="en-US" dirty="0">
                <a:latin typeface="+mn-lt"/>
              </a:rPr>
              <a:t> 2021/2022 saw the least usage of RONDO</a:t>
            </a:r>
          </a:p>
          <a:p>
            <a:pPr marL="285750" indent="-285750" algn="l">
              <a:spcBef>
                <a:spcPts val="432"/>
              </a:spcBef>
              <a:buFontTx/>
              <a:buChar char="-"/>
            </a:pPr>
            <a:r>
              <a:rPr lang="en-US" dirty="0">
                <a:latin typeface="+mn-lt"/>
              </a:rPr>
              <a:t>However, it still contributed to at least around 15 % of the annual heat demand every year.</a:t>
            </a:r>
          </a:p>
          <a:p>
            <a:pPr marL="285750" indent="-285750" algn="l">
              <a:spcBef>
                <a:spcPts val="432"/>
              </a:spcBef>
              <a:buFontTx/>
              <a:buChar char="-"/>
            </a:pPr>
            <a:r>
              <a:rPr lang="en-US" dirty="0">
                <a:latin typeface="+mn-lt"/>
              </a:rPr>
              <a:t>In fact, ignoring the extreme scenarios of 2021/2022,</a:t>
            </a:r>
          </a:p>
          <a:p>
            <a:pPr marL="285750" indent="-285750" algn="l">
              <a:spcBef>
                <a:spcPts val="432"/>
              </a:spcBef>
              <a:buFontTx/>
              <a:buChar char="-"/>
            </a:pPr>
            <a:r>
              <a:rPr lang="en-US" dirty="0">
                <a:latin typeface="+mn-lt"/>
              </a:rPr>
              <a:t>It was contributing 20 % plus of the annual heat demand.</a:t>
            </a:r>
          </a:p>
        </p:txBody>
      </p:sp>
    </p:spTree>
    <p:extLst>
      <p:ext uri="{BB962C8B-B14F-4D97-AF65-F5344CB8AC3E}">
        <p14:creationId xmlns:p14="http://schemas.microsoft.com/office/powerpoint/2010/main" val="2344809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8D021-0B94-2E97-40EC-C970F626C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662" y="263597"/>
            <a:ext cx="9312374" cy="513195"/>
          </a:xfrm>
        </p:spPr>
        <p:txBody>
          <a:bodyPr/>
          <a:lstStyle/>
          <a:p>
            <a:r>
              <a:rPr lang="en-US" dirty="0"/>
              <a:t>Battery SOC</a:t>
            </a:r>
            <a:endParaRPr lang="en-D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1CFAC2E-A83D-570E-C2D2-7DFD4BD54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998862" y="908720"/>
            <a:ext cx="6889973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91F2C7-3258-346F-E70F-45521BE197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7275C-755C-65CD-4B0B-F8E9E89A66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C350D27-335B-77DA-4419-028B804E69E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020487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53311-9255-7E20-EC63-CC24E5753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945" y="260648"/>
            <a:ext cx="9312374" cy="513195"/>
          </a:xfrm>
        </p:spPr>
        <p:txBody>
          <a:bodyPr/>
          <a:lstStyle/>
          <a:p>
            <a:r>
              <a:rPr lang="en-US" dirty="0"/>
              <a:t>Base Scenario Heat Generation</a:t>
            </a:r>
            <a:endParaRPr lang="en-D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6324173-E4B0-635E-246A-67172AAD9E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252000" y="982081"/>
            <a:ext cx="4320480" cy="2573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81DEEC-8B92-7B07-36D4-38D75BB9BC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377DA-E5E7-0443-FA61-FD68F505C1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9A241D6-2F01-8973-A1E7-89847CE6E60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579E61-81AA-4AD5-6A0D-96A41D55A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069" y="851221"/>
            <a:ext cx="4464496" cy="26588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D649B3-300E-8A26-B8D7-C84A6D677B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908" y="3555147"/>
            <a:ext cx="4560558" cy="27160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B08559-8E2B-C7BC-20DB-AD24D124DA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9222" y="3472935"/>
            <a:ext cx="4698602" cy="279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767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5C30F-3810-5178-66D2-1DE689FB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EE7A61-E9F6-B4B9-886B-BFC80BA391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68E32-95D8-CDC2-1AF0-56E1DA9BA0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D02B352-60A8-FE55-245E-0C95E46B6A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B0DD78-6C3C-B875-ECCD-D04572C98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0" y="160708"/>
            <a:ext cx="5431534" cy="32347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ABC21E-5465-48A4-427F-FF22C858E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461" y="87498"/>
            <a:ext cx="5677391" cy="33811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354139-64B8-4492-5B0C-53F3FE627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0" y="3285484"/>
            <a:ext cx="5431534" cy="32347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B20C2C0-DFB2-1C7F-785C-0327A25A33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5286" y="3686606"/>
            <a:ext cx="4816846" cy="286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00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923A70-6523-BB00-ADA3-A6F59FE697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07BBB-A690-A29D-9B9B-B4A37D57C9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03CDAE-F3A3-8BF6-C2C1-DC9D4F69179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A1F638-12C2-2403-C471-5B13B7147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581" y="784693"/>
            <a:ext cx="6268832" cy="27719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F36F7BE-F84A-D7BC-000F-99ACEF379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965" y="3577437"/>
            <a:ext cx="6169479" cy="27719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66CE4DF-4674-07CF-75E1-D6F982E94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179" y="784693"/>
            <a:ext cx="6097859" cy="27929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794FC53-9185-47D0-25DF-531EBCA55A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160" y="3556461"/>
            <a:ext cx="6169479" cy="282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5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A32B7-C345-40BF-6BC0-43077A9FE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274223"/>
            <a:ext cx="9312374" cy="513195"/>
          </a:xfrm>
        </p:spPr>
        <p:txBody>
          <a:bodyPr/>
          <a:lstStyle/>
          <a:p>
            <a:r>
              <a:rPr lang="en-US" dirty="0"/>
              <a:t>Rolling Horizon</a:t>
            </a:r>
            <a:endParaRPr lang="en-D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DE5025C-B31A-7F6E-FBD9-D8B3C85134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4042" y="1052701"/>
            <a:ext cx="4403703" cy="2622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D39149-F1A3-BE54-D2A9-6962CB09DA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C593B2-3486-AAB1-5E9B-C94517DEEA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2821908-802A-1121-E6CD-6E231FBB74F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F2F4D4-A28E-3F84-E6D5-685C57A05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897" y="884503"/>
            <a:ext cx="4968552" cy="29590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E2CA4D-E566-9366-5991-FCE6C58CD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39" y="3904100"/>
            <a:ext cx="4246606" cy="25290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10954F4-2F8D-200B-3DA0-16DC14C68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897" y="3675332"/>
            <a:ext cx="4824536" cy="287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931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CF8DA-D68B-4005-4900-38A8BAA39D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979875-A09F-C677-B3A6-A18802E048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4CDA232-5398-519C-D5AD-7557A83B89E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0270B5-3132-5321-1B91-A2FB3C060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00" y="767460"/>
            <a:ext cx="4432943" cy="26400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E46AFB-4821-7BF7-2C28-1270B1D8D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822" y="677782"/>
            <a:ext cx="4682991" cy="27889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2CE0B2-4FA8-7791-531B-6A5D21617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00" y="3537145"/>
            <a:ext cx="4985292" cy="29689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68C8709-8CA5-6BFB-7B60-A3A9384BA2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822" y="3407504"/>
            <a:ext cx="5131800" cy="305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585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EC5A9-4AAD-79E8-3E6D-FB00095C2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287160"/>
            <a:ext cx="9312374" cy="513195"/>
          </a:xfrm>
        </p:spPr>
        <p:txBody>
          <a:bodyPr/>
          <a:lstStyle/>
          <a:p>
            <a:r>
              <a:rPr lang="en-US" dirty="0"/>
              <a:t>Rolling Horizon Comparison</a:t>
            </a:r>
            <a:endParaRPr lang="en-D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46E876B-CC34-229A-8CA1-953202CF0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0361" y="1141001"/>
            <a:ext cx="5525176" cy="3296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C16704-0587-E32C-1129-38ACC95E6B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D8EFE2-5309-0160-56FC-C71B74F3D7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9E1571-6F5B-46EE-598A-787FF710A4C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FCEB9B-DC70-3C94-04F0-73ACF067B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227" y="965224"/>
            <a:ext cx="5819825" cy="34718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C4FA75D-A082-77DB-9D20-20A0E982CD8B}"/>
              </a:ext>
            </a:extLst>
          </p:cNvPr>
          <p:cNvSpPr txBox="1"/>
          <p:nvPr/>
        </p:nvSpPr>
        <p:spPr>
          <a:xfrm>
            <a:off x="838622" y="4581128"/>
            <a:ext cx="531876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- Shorter Horizon seems to lead to more usage of RONDO</a:t>
            </a:r>
            <a:endParaRPr lang="en-DK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20511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A6BA-7EF6-80FB-7B30-703673309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630" y="156632"/>
            <a:ext cx="9312374" cy="513195"/>
          </a:xfrm>
        </p:spPr>
        <p:txBody>
          <a:bodyPr/>
          <a:lstStyle/>
          <a:p>
            <a:r>
              <a:rPr lang="en-US" dirty="0"/>
              <a:t>Seasonal Behavior</a:t>
            </a:r>
            <a:endParaRPr lang="en-D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5648895-7A4D-4A57-FC54-3E17903491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8542" y="862487"/>
            <a:ext cx="5179342" cy="5486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040953-8A5D-6306-F070-59161B7A55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87671C-D5A1-C2DA-534E-24B53981BE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A13A712-48B6-30FE-E86A-21B0D24E48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8A7BE3-5FD2-ED80-E261-2A1575560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134" y="976824"/>
            <a:ext cx="4963452" cy="52573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5A2A5D-E427-223C-16A7-D8AB73AC4953}"/>
              </a:ext>
            </a:extLst>
          </p:cNvPr>
          <p:cNvSpPr txBox="1"/>
          <p:nvPr/>
        </p:nvSpPr>
        <p:spPr>
          <a:xfrm>
            <a:off x="5566817" y="222418"/>
            <a:ext cx="4868320" cy="54373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 algn="l">
              <a:spcBef>
                <a:spcPts val="432"/>
              </a:spcBef>
              <a:buFontTx/>
              <a:buChar char="-"/>
            </a:pPr>
            <a:r>
              <a:rPr lang="en-US" dirty="0">
                <a:latin typeface="+mn-lt"/>
              </a:rPr>
              <a:t>RONDO discharging closely follows the Spot Price</a:t>
            </a:r>
          </a:p>
          <a:p>
            <a:pPr marL="285750" indent="-285750" algn="l">
              <a:spcBef>
                <a:spcPts val="432"/>
              </a:spcBef>
              <a:buFontTx/>
              <a:buChar char="-"/>
            </a:pPr>
            <a:r>
              <a:rPr lang="en-US" dirty="0">
                <a:latin typeface="+mn-lt"/>
              </a:rPr>
              <a:t>Same with the Battery Charging/Discharging</a:t>
            </a:r>
            <a:endParaRPr lang="en-DK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8288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C4138-32B3-3938-8632-040A33D00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521" y="149028"/>
            <a:ext cx="9312374" cy="513195"/>
          </a:xfrm>
        </p:spPr>
        <p:txBody>
          <a:bodyPr/>
          <a:lstStyle/>
          <a:p>
            <a:r>
              <a:rPr lang="en-US" dirty="0"/>
              <a:t>Heat Price</a:t>
            </a:r>
            <a:endParaRPr lang="en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020A4D-636E-7BAD-4F2E-152FF90F5A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C91268-3A3F-E0E9-2CAD-9592E9561B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B0B5AE9-E6D7-35AF-ECA7-127E4AC76DF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9F398C-2AA3-9FDD-90AF-80E3A76B0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00" y="662224"/>
            <a:ext cx="3462667" cy="2856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FA3B86-B3C3-FE29-F6C3-6DF219527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00" y="3518924"/>
            <a:ext cx="3574000" cy="29485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D55791-77B9-0E86-129E-DFDDE522FA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602" y="406623"/>
            <a:ext cx="3532621" cy="29144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03A44FC-9042-8AAA-5D34-B88EF46666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4033" y="3353987"/>
            <a:ext cx="3773942" cy="31135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4136AF-1370-CF3D-555D-90F080B7D4AA}"/>
              </a:ext>
            </a:extLst>
          </p:cNvPr>
          <p:cNvSpPr txBox="1"/>
          <p:nvPr/>
        </p:nvSpPr>
        <p:spPr>
          <a:xfrm>
            <a:off x="8232106" y="478586"/>
            <a:ext cx="3773942" cy="15799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spcBef>
                <a:spcPts val="432"/>
              </a:spcBef>
              <a:buFontTx/>
              <a:buChar char="-"/>
            </a:pPr>
            <a:r>
              <a:rPr lang="en-US" dirty="0">
                <a:latin typeface="+mn-lt"/>
              </a:rPr>
              <a:t>Heat Price is bounded by the electricity and boiler prices</a:t>
            </a:r>
          </a:p>
          <a:p>
            <a:pPr marL="285750" indent="-285750" algn="l">
              <a:spcBef>
                <a:spcPts val="432"/>
              </a:spcBef>
              <a:buFontTx/>
              <a:buChar char="-"/>
            </a:pPr>
            <a:r>
              <a:rPr lang="en-US" dirty="0">
                <a:latin typeface="+mn-lt"/>
              </a:rPr>
              <a:t>2022 was the only year where NG prices were lower more often than electricity prices.</a:t>
            </a:r>
          </a:p>
          <a:p>
            <a:pPr marL="285750" indent="-285750" algn="l">
              <a:spcBef>
                <a:spcPts val="432"/>
              </a:spcBef>
              <a:buFontTx/>
              <a:buChar char="-"/>
            </a:pPr>
            <a:r>
              <a:rPr lang="en-US" dirty="0">
                <a:latin typeface="+mn-lt"/>
              </a:rPr>
              <a:t>Heat MC is following the RONDOs MC</a:t>
            </a:r>
          </a:p>
        </p:txBody>
      </p:sp>
    </p:spTree>
    <p:extLst>
      <p:ext uri="{BB962C8B-B14F-4D97-AF65-F5344CB8AC3E}">
        <p14:creationId xmlns:p14="http://schemas.microsoft.com/office/powerpoint/2010/main" val="2225906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ADAB-B2E3-CE3E-8CA9-4B1BD0780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563" y="349496"/>
            <a:ext cx="9312374" cy="513195"/>
          </a:xfrm>
        </p:spPr>
        <p:txBody>
          <a:bodyPr/>
          <a:lstStyle/>
          <a:p>
            <a:r>
              <a:rPr lang="en-US" dirty="0"/>
              <a:t>Conclusions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D7514-A6F7-82F4-F786-EC68989A2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6654" y="1195778"/>
            <a:ext cx="9731724" cy="1670778"/>
          </a:xfrm>
        </p:spPr>
        <p:txBody>
          <a:bodyPr/>
          <a:lstStyle/>
          <a:p>
            <a:pPr>
              <a:buFontTx/>
              <a:buChar char="-"/>
            </a:pPr>
            <a:r>
              <a:rPr lang="en-US" dirty="0"/>
              <a:t>Rolling Horizon did not have much impact on daily operations</a:t>
            </a:r>
          </a:p>
          <a:p>
            <a:pPr>
              <a:buFontTx/>
              <a:buChar char="-"/>
            </a:pPr>
            <a:r>
              <a:rPr lang="en-US" dirty="0"/>
              <a:t>However, it underestimates certain links/store capacities (extendable)</a:t>
            </a:r>
          </a:p>
          <a:p>
            <a:pPr>
              <a:buFontTx/>
              <a:buChar char="-"/>
            </a:pPr>
            <a:r>
              <a:rPr lang="en-US" dirty="0"/>
              <a:t>This leads to for example lower importing capacity and biochar storage.</a:t>
            </a:r>
          </a:p>
          <a:p>
            <a:pPr>
              <a:buFontTx/>
              <a:buChar char="-"/>
            </a:pPr>
            <a:r>
              <a:rPr lang="en-US" dirty="0"/>
              <a:t>These are the only ways the system can make revenue arbitrage/carbon credits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66124-1FCA-A891-D86E-DF46F42228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C921-FBCC-5A36-3CD7-3EE9B45012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83D8481-0D04-ECD3-5776-027A98B867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E4341E-8775-63DD-F97E-163A4154FA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7563" y="2852528"/>
            <a:ext cx="4972744" cy="95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330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C6F44-C336-211D-3C0D-06327106C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8C7D2-C079-5AAA-1406-14E169D7C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563" y="349496"/>
            <a:ext cx="9312374" cy="513195"/>
          </a:xfrm>
        </p:spPr>
        <p:txBody>
          <a:bodyPr/>
          <a:lstStyle/>
          <a:p>
            <a:r>
              <a:rPr lang="en-US" dirty="0"/>
              <a:t>Next Steps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E934A-FF64-3182-420D-E0CC8F6F8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6654" y="1195778"/>
            <a:ext cx="9731724" cy="1670778"/>
          </a:xfrm>
        </p:spPr>
        <p:txBody>
          <a:bodyPr/>
          <a:lstStyle/>
          <a:p>
            <a:r>
              <a:rPr lang="en-US" dirty="0"/>
              <a:t>Implementing Biogas Plant</a:t>
            </a:r>
          </a:p>
          <a:p>
            <a:r>
              <a:rPr lang="en-US" dirty="0"/>
              <a:t>Debugging Annualized Demand</a:t>
            </a:r>
          </a:p>
          <a:p>
            <a:r>
              <a:rPr lang="en-US" dirty="0"/>
              <a:t>Rolling Horizon with Annualized Demand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F87DC-F74E-41A0-54DF-8BE0A5CC26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D1A99-BCFA-52F9-CC6B-EBE2FFBA37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D16A0E1-1A11-3792-052D-E27EC2F3AFD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424785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F9EB-C95A-F9D8-96BE-E5493043D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019" y="335623"/>
            <a:ext cx="9312374" cy="513195"/>
          </a:xfrm>
        </p:spPr>
        <p:txBody>
          <a:bodyPr/>
          <a:lstStyle/>
          <a:p>
            <a:r>
              <a:rPr lang="en-US" dirty="0"/>
              <a:t>Biomass Plant</a:t>
            </a:r>
            <a:endParaRPr lang="en-D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4ABF56F-1A19-5E2A-6FA1-CA4B4446A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910630" y="880082"/>
            <a:ext cx="3384376" cy="5452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E285D5-BD44-1855-10E0-84D2C947A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E51E6-9646-8491-1D0E-F3A1939C28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E382893-BF40-B85E-0627-720176737DE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945339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3CEC7-4C83-B546-62C0-5872F8712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646" y="322147"/>
            <a:ext cx="9312374" cy="513195"/>
          </a:xfrm>
        </p:spPr>
        <p:txBody>
          <a:bodyPr/>
          <a:lstStyle/>
          <a:p>
            <a:r>
              <a:rPr lang="en-US" dirty="0"/>
              <a:t>Marginal Price</a:t>
            </a:r>
            <a:endParaRPr lang="en-D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D65B143-592C-5440-BF4F-F4FF43658C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6534" y="809818"/>
            <a:ext cx="5314950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FDBF91-D475-89C3-6510-DDB76FBB6E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B41532-E267-88D1-B6EE-33250FA660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2CA675A-F823-DA41-1EDE-9EFEAE9B76D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9387C0-40CA-9AF6-5201-059A4EA6E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900" y="785822"/>
            <a:ext cx="5391150" cy="41052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B257708-CB74-D411-25A6-72686E8E4980}"/>
              </a:ext>
            </a:extLst>
          </p:cNvPr>
          <p:cNvSpPr txBox="1"/>
          <p:nvPr/>
        </p:nvSpPr>
        <p:spPr>
          <a:xfrm>
            <a:off x="406574" y="4997405"/>
            <a:ext cx="3868047" cy="17338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Not sorted</a:t>
            </a:r>
          </a:p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Marginal Price of Biogas and Methanol </a:t>
            </a:r>
          </a:p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No Methanol Demand and H2 Demand</a:t>
            </a:r>
          </a:p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200 GW Demand for Biogas (CH_4)</a:t>
            </a:r>
          </a:p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Spread Evenly Hourly</a:t>
            </a:r>
          </a:p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endParaRPr lang="en-DK" dirty="0" err="1"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82EC4F-F1DD-871D-ABF7-A8E5D2D99DAF}"/>
              </a:ext>
            </a:extLst>
          </p:cNvPr>
          <p:cNvSpPr txBox="1"/>
          <p:nvPr/>
        </p:nvSpPr>
        <p:spPr>
          <a:xfrm>
            <a:off x="7031310" y="4997405"/>
            <a:ext cx="3932167" cy="54373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Limited the amount of exports to 20 MW</a:t>
            </a:r>
          </a:p>
          <a:p>
            <a:pPr marL="285750" indent="-285750" algn="l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Imports Links is still 84 MW</a:t>
            </a:r>
            <a:endParaRPr lang="en-DK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7461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2B1D9-35CC-C171-9A6A-8771F5BA8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490" y="333980"/>
            <a:ext cx="9312374" cy="513195"/>
          </a:xfrm>
        </p:spPr>
        <p:txBody>
          <a:bodyPr/>
          <a:lstStyle/>
          <a:p>
            <a:r>
              <a:rPr lang="en-US" dirty="0"/>
              <a:t>Heat Contribution</a:t>
            </a:r>
            <a:endParaRPr lang="en-D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890793A-8CE9-79C6-9E02-35A897AE50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34566" y="1203389"/>
            <a:ext cx="6264696" cy="4931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56617B-0BF3-7AE7-4336-58E99F5ED3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E3F557-2529-842E-ECAE-845E20F3EA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341307-14B6-7AA4-4153-10077F42509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8763493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D9309D-2CD2-A3DA-0A5A-98CE4E1898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9A519A-FC3D-B0E6-77AF-B0C1F6CD63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2A284A-F1F1-7448-5CE7-705DE35C724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8BBADC-DE69-1A19-41A5-19B690B82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2" y="1640"/>
            <a:ext cx="3862958" cy="31887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9DBA94-B57F-709A-B6B6-B8F0E6125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9631" y="36791"/>
            <a:ext cx="4000782" cy="33025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059218-2ED9-F44C-6EC9-1C2CD5AC6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93841"/>
            <a:ext cx="4125833" cy="34057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DE13DED-A6B7-9133-266F-719BFF2453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2828" y="3161469"/>
            <a:ext cx="4478083" cy="369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14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503858-E02C-9BB6-5F41-B4BC712304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C4FBE0-7E4C-05D4-C741-DE3EEA4B55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23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FB5915-CC2F-666F-1909-940A97D073C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55B7BD7-E9CF-EAD3-1BF0-D26464841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94" y="1196752"/>
            <a:ext cx="11636910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81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2FDA5-3BBF-FBFA-C730-2CDCC32AE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B97114-813E-6FB2-0E59-21CFC23103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3ABDC-C1F3-B851-8EAD-8415302B34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F38AE35-F390-0A43-B424-1CDE6136C1B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75ADA7-9194-9026-6CC8-E32CE1F61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3" y="0"/>
            <a:ext cx="120579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2173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12BD9-ADC4-FFDE-B7C4-2F5620CE72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GB"/>
              <a:t>Footer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E1FD7AFC-3BA4-5AE7-A914-511177C72B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AF6CEAE-AF59-230E-79B4-D6076741A77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866DA8-AAA1-82A2-A50E-E6A0AC2E8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678" y="440668"/>
            <a:ext cx="9170917" cy="597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2809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39C89A1-23C3-69DA-CC9F-F02033E01A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486694" y="260648"/>
            <a:ext cx="9505056" cy="6148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284088-AD9D-2FDB-51E6-9D5C891865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7D1BAF-0F80-60DA-BE94-41DDE9373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A38EBCD-3E41-1529-5420-5689B5EA91D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3434068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BF03C-13FE-1D5B-6364-3CEB46375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7F4283F-C5DA-F8D2-41B4-68352E9F3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270670" y="397532"/>
            <a:ext cx="9372307" cy="6062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50E312-B1A7-8982-7B21-32D66F67C1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FC2D2-A410-C44A-D077-E216DAAC64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989D0B3-E9E8-035F-1050-D5381F01FFD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7930854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1802-E7AE-764A-1729-41AEF848C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4F63CDF-FFBA-15B2-0EDF-41B56486F9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062758" y="188640"/>
            <a:ext cx="8787098" cy="6174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BAB72-A654-7DD6-5C13-9DDC37D7CD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6690E-BF5F-B9BA-A4D5-7A373A2C30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28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530C38D-AF58-4F87-87E3-90ED22786A2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9726310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CD732BE-0602-B33D-4642-CC7DA592E6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659019" y="119063"/>
            <a:ext cx="8643775" cy="63531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4CEF54-6151-5398-FB59-7EB1305418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GB"/>
              <a:t>Footer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98F7B37D-D048-63F3-DBE6-B0307CF975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29</a:t>
            </a:fld>
            <a:endParaRPr lang="en-GB" dirty="0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5BE48912-3DA9-2D1D-74C4-EB7655DFB8E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3548900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2B38B-6F26-E29A-A6D8-3098DF17B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D91F04D-A5D5-AF5F-A461-9C31D7F485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50071" y="116632"/>
            <a:ext cx="6007276" cy="6369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19E39-A132-A1B9-F0ED-3F1C83D23E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B8F27-94D9-91BB-6EA6-EDC38B609A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30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F1708AF-6449-5101-8EEF-4190314B11B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460032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9048F48-06A7-A443-B285-9A9D725BC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F55777-3A03-7D47-B657-69719659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8C45C-947F-4981-8B3F-4F32E973C901}" type="slidenum">
              <a:rPr lang="en-GB" smtClean="0"/>
              <a:pPr/>
              <a:t>31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C04DB-B860-13DD-1904-30E9B42FB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Date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9164298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9525" cap="flat" cmpd="sng" algn="ctr">
          <a:solidFill>
            <a:schemeClr val="accent2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TU Wind Energy Template.pptx  -  Read-Only" id="{5D1E195A-5694-493A-9B3A-DD892780DE75}" vid="{6B133F9E-2F46-46EE-B913-DA3CF10F941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item1.xml><?xml version="1.0" encoding="utf-8"?>
<TemplafySlideTemplateConfiguration><![CDATA[{"documentContentValidatorConfiguration":{"enableDocumentContentValidator":false,"documentContentValidatorVersion":0},"elementsMetadata":[],"slideId":"637582373566098804","enableDocumentContentUpdater":true,"version":"1.2"}]]></TemplafySlideTemplateConfiguration>
</file>

<file path=customXml/item2.xml><?xml version="1.0" encoding="utf-8"?>
<TemplafySlideTemplateConfiguration><![CDATA[{"documentContentValidatorConfiguration":{"enableDocumentContentValidator":false,"documentContentValidatorVersion":0},"elementsMetadata":[],"slideId":"637582373565942579","enableDocumentContentUpdater":true,"version":"1.2"}]]></TemplafySlideTemplateConfiguration>
</file>

<file path=customXml/item3.xml><?xml version="1.0" encoding="utf-8"?>
<TemplafyTemplateConfiguration><![CDATA[{"elementsMetadata":[{"type":"shape","id":"760c0b01-e6e8-4844-b6e1-1dc9fa2aa3a0","elementConfiguration":{"binding":"UserProfile.Offices.Workarea_{{DocumentLanguage}}","disableUpdates":false,"type":"text"}},{"type":"shape","id":"d52388ce-2b60-421d-b542-b927e7f7ca5d","elementConfiguration":{"format":"{{DateFormats.GeneralDate}}","binding":"Form.Date","disableUpdates":false,"type":"date"}},{"type":"shape","id":"19920dab-3faa-4eb9-b064-a1f7031a4d5a","elementConfiguration":{"binding":"Form.PresentationTitle","disableUpdates":false,"type":"text"}}],"transformationConfigurations":[{"language":"{{DocumentLanguage}}","disableUpdates":false,"type":"proofingLanguage"}],"templateName":"DTU Wind Energy Template","templateDescription":"","enableDocumentContentUpdater":true,"version":"1.2"}]]></TemplafyTemplate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FormConfiguration><![CDATA[{"formFields":[{"required":false,"helpTexts":{"prefix":"","postfix":""},"spacing":{},"type":"datePicker","name":"Date","label":"Date","fullyQualifiedName":"Date"},{"required":false,"placeholder":"","lines":0,"helpTexts":{"prefix":"","postfix":""},"spacing":{},"type":"textBox","name":"PresentationTitle","label":"Presentation title","fullyQualifiedName":"PresentationTitle"}],"formDataEntries":[]}]]></TemplafyFormConfiguration>
</file>

<file path=customXml/item6.xml><?xml version="1.0" encoding="utf-8"?>
<TemplafySlideTemplateConfiguration><![CDATA[{"documentContentValidatorConfiguration":{"enableDocumentContentValidator":false,"documentContentValidatorVersion":0},"elementsMetadata":[],"slideId":"637582373565786322","enableDocumentContentUpdater":true,"version":"1.2"}]]></TemplafySlideTemplateConfiguration>
</file>

<file path=customXml/item7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DA1FD2B40FDA458284BB6FCA763489" ma:contentTypeVersion="5" ma:contentTypeDescription="Create a new document." ma:contentTypeScope="" ma:versionID="72b2569ebc96083092f6d8e76413cd52">
  <xsd:schema xmlns:xsd="http://www.w3.org/2001/XMLSchema" xmlns:xs="http://www.w3.org/2001/XMLSchema" xmlns:p="http://schemas.microsoft.com/office/2006/metadata/properties" xmlns:ns2="683dcda1-f8c3-442f-ae64-e236c052732d" xmlns:ns3="715bde23-c48d-41ea-a697-dffaa8fbae8d" targetNamespace="http://schemas.microsoft.com/office/2006/metadata/properties" ma:root="true" ma:fieldsID="df14c340b530a7b5c38005fefa6a5693" ns2:_="" ns3:_="">
    <xsd:import namespace="683dcda1-f8c3-442f-ae64-e236c052732d"/>
    <xsd:import namespace="715bde23-c48d-41ea-a697-dffaa8fbae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dcda1-f8c3-442f-ae64-e236c0527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bde23-c48d-41ea-a697-dffaa8fbae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1.xml><?xml version="1.0" encoding="utf-8"?>
<TemplafySlideTemplateConfiguration><![CDATA[{"documentContentValidatorConfiguration":{"enableDocumentContentValidator":false,"documentContentValidatorVersion":0},"elementsMetadata":[],"slideId":"636822015789305408","enableDocumentContentUpdater":true,"version":"1.2"}]]></TemplafySlideTemplateConfiguration>
</file>

<file path=customXml/item1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13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2EB4C41E-0201-403E-B674-C35FC9D83F82}">
  <ds:schemaRefs/>
</ds:datastoreItem>
</file>

<file path=customXml/itemProps2.xml><?xml version="1.0" encoding="utf-8"?>
<ds:datastoreItem xmlns:ds="http://schemas.openxmlformats.org/officeDocument/2006/customXml" ds:itemID="{FEF6F7EB-8D11-4DB2-B6C1-35C7A5D0547A}">
  <ds:schemaRefs/>
</ds:datastoreItem>
</file>

<file path=customXml/itemProps3.xml><?xml version="1.0" encoding="utf-8"?>
<ds:datastoreItem xmlns:ds="http://schemas.openxmlformats.org/officeDocument/2006/customXml" ds:itemID="{1334258C-C3E7-4029-A615-C886A240FB15}">
  <ds:schemaRefs/>
</ds:datastoreItem>
</file>

<file path=customXml/itemProps4.xml><?xml version="1.0" encoding="utf-8"?>
<ds:datastoreItem xmlns:ds="http://schemas.openxmlformats.org/officeDocument/2006/customXml" ds:itemID="{89E65983-BEBD-4684-8266-29F51A82FD68}">
  <ds:schemaRefs/>
</ds:datastoreItem>
</file>

<file path=customXml/itemProps5.xml><?xml version="1.0" encoding="utf-8"?>
<ds:datastoreItem xmlns:ds="http://schemas.openxmlformats.org/officeDocument/2006/customXml" ds:itemID="{C086A146-0E09-4AA0-A3DC-33B2C18DA71A}">
  <ds:schemaRefs/>
</ds:datastoreItem>
</file>

<file path=customXml/itemProps6.xml><?xml version="1.0" encoding="utf-8"?>
<ds:datastoreItem xmlns:ds="http://schemas.openxmlformats.org/officeDocument/2006/customXml" ds:itemID="{747FA701-153C-414F-9076-93D6EB8F30A9}">
  <ds:schemaRefs/>
</ds:datastoreItem>
</file>

<file path=customXml/itemProps7.xml><?xml version="1.0" encoding="utf-8"?>
<ds:datastoreItem xmlns:ds="http://schemas.openxmlformats.org/officeDocument/2006/customXml" ds:itemID="{06B25442-D932-4BC3-89C2-322C820ADD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3dcda1-f8c3-442f-ae64-e236c052732d"/>
    <ds:schemaRef ds:uri="715bde23-c48d-41ea-a697-dffaa8fbae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8.xml><?xml version="1.0" encoding="utf-8"?>
<ds:datastoreItem xmlns:ds="http://schemas.openxmlformats.org/officeDocument/2006/customXml" ds:itemID="{256B63E5-69B6-464D-863A-E47835EE7289}">
  <ds:schemaRefs/>
</ds:datastoreItem>
</file>

<file path=customXml/itemProps9.xml><?xml version="1.0" encoding="utf-8"?>
<ds:datastoreItem xmlns:ds="http://schemas.openxmlformats.org/officeDocument/2006/customXml" ds:itemID="{09A4C5C1-E379-42C2-9CE4-96EAD0C517EB}">
  <ds:schemaRefs/>
</ds:datastoreItem>
</file>

<file path=customXml/itemProps10.xml><?xml version="1.0" encoding="utf-8"?>
<ds:datastoreItem xmlns:ds="http://schemas.openxmlformats.org/officeDocument/2006/customXml" ds:itemID="{130D490B-E977-43FF-A2D1-8C2447D6F702}">
  <ds:schemaRefs>
    <ds:schemaRef ds:uri="http://schemas.microsoft.com/sharepoint/v3/contenttype/forms"/>
  </ds:schemaRefs>
</ds:datastoreItem>
</file>

<file path=customXml/itemProps11.xml><?xml version="1.0" encoding="utf-8"?>
<ds:datastoreItem xmlns:ds="http://schemas.openxmlformats.org/officeDocument/2006/customXml" ds:itemID="{B917EF7A-B11F-4137-A061-E3AFCEC45668}">
  <ds:schemaRefs/>
</ds:datastoreItem>
</file>

<file path=customXml/itemProps12.xml><?xml version="1.0" encoding="utf-8"?>
<ds:datastoreItem xmlns:ds="http://schemas.openxmlformats.org/officeDocument/2006/customXml" ds:itemID="{AF32439C-8EF2-469F-A487-C82C55E480D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13.xml><?xml version="1.0" encoding="utf-8"?>
<ds:datastoreItem xmlns:ds="http://schemas.openxmlformats.org/officeDocument/2006/customXml" ds:itemID="{45D0A120-FE3F-4A06-903C-5F2D1EDB30F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DTU Wind Template</Template>
  <TotalTime>13436</TotalTime>
  <Words>489</Words>
  <Application>Microsoft Office PowerPoint</Application>
  <PresentationFormat>Custom</PresentationFormat>
  <Paragraphs>174</Paragraphs>
  <Slides>31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Verdana</vt:lpstr>
      <vt:lpstr>Wingdings</vt:lpstr>
      <vt:lpstr>Blank</vt:lpstr>
      <vt:lpstr>Msc Thesis Updates</vt:lpstr>
      <vt:lpstr>Current Model</vt:lpstr>
      <vt:lpstr>Input Data</vt:lpstr>
      <vt:lpstr>Input Data</vt:lpstr>
      <vt:lpstr>System Revenue</vt:lpstr>
      <vt:lpstr>PowerPoint Presentation</vt:lpstr>
      <vt:lpstr>RONDO Discharging Behavior</vt:lpstr>
      <vt:lpstr>Battery SOC</vt:lpstr>
      <vt:lpstr>Base Scenario Heat Generation</vt:lpstr>
      <vt:lpstr>PowerPoint Presentation</vt:lpstr>
      <vt:lpstr>PowerPoint Presentation</vt:lpstr>
      <vt:lpstr>Rolling Horizon</vt:lpstr>
      <vt:lpstr>PowerPoint Presentation</vt:lpstr>
      <vt:lpstr>Rolling Horizon Comparison</vt:lpstr>
      <vt:lpstr>Seasonal Behavior</vt:lpstr>
      <vt:lpstr>Heat Price</vt:lpstr>
      <vt:lpstr>Conclusions</vt:lpstr>
      <vt:lpstr>Next Steps</vt:lpstr>
      <vt:lpstr>Biomass Plant</vt:lpstr>
      <vt:lpstr>Marginal Price</vt:lpstr>
      <vt:lpstr>Heat Contribution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Pulin Dhar</dc:creator>
  <cp:keywords/>
  <dc:description/>
  <cp:lastModifiedBy>Pulin Dhar</cp:lastModifiedBy>
  <cp:revision>4</cp:revision>
  <dcterms:created xsi:type="dcterms:W3CDTF">2026-02-26T12:36:25Z</dcterms:created>
  <dcterms:modified xsi:type="dcterms:W3CDTF">2026-03-19T17:25:43Z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2021-06-02T13:27:21.6449280</vt:lpwstr>
  </property>
  <property fmtid="{D5CDD505-2E9C-101B-9397-08002B2CF9AE}" pid="3" name="ContentTypeId">
    <vt:lpwstr>0x0101009ADA1FD2B40FDA458284BB6FCA763489</vt:lpwstr>
  </property>
</Properties>
</file>